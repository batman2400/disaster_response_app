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judges. My name is Mohan. Today, we present FENDER—an intelligent, multi-tier disaster response ecosystem engineered for the Colombo flood corridor and ready for nationwide deployment. During seasonal monsoons, the Kelani River breaches its banks in Nagalagam Street, Sedawatta, and Kolonnawa. The real tragedy is the information void: dispatchers take 45 minutes to verify a single incident while ambulances navigate into submerged dead ends.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year, torrential monsoon downpours flood Sedawatta, Nagalagam Street, and Kolonnawa. People assume response fails because of a lack of rescue boats. In reality, it fails because of information paralysis. When 117 receives 5,000 unverified calls, dispatchers spend critical hours confirming rumors, duplicate tickets flood the queue, and rescue units operate completely blind.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Fender solves this by connecting all four crisis stakeholders into a single, real-time data fabric. When a citizen reports an incident, it is verified in seconds, prioritized on the municipal command desk, dispatched to on-ground crews, and updated on the public safe map—all synchronized via Supabase WebSockets in under 200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Rather than using a generic chatbot, we engineered a deterministic 5-check evaluation pipeline. Gemini Vision confirms visual hazard veracity; PostGIS groups nearby calls to kill 90% of duplicate spam; and river telemetry checks environmental plausibility. Within 3 seconds, the report is mathematically scored and routed without human bottleneck.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what municipal commanders see at CMC headquarters. Incident #428CA8A8 in Nagalagam Street was submitted with a photo. The system automatically assigned an 0.80 verdict score. The officer can inspect the exact Gemini reasoning, view clustered nearby reports, adjust AI sensitivity thresholds, or escalate an entire ward with one click.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citizens trapped by rising waters, simplicity is survival. Fender is an installable PWA that works on any mobile browser. It speaks their language—English, Sinhala, or Tamil. A citizen can report a hazard in 15 seconds. On the public safe map, they see active flood pins and safe, non-submerged evacuation routes to open shelters.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critical flaw in existing municipal systems is ghost clearances—workers marking roads cleared over the radio when fallen trees still block emergency ambulances. With Fender, tickets cannot be closed with a button. Field crews must capture an on-site photo showing the obstruction cleared. Once verified, the database flips is_road_blocked to false, and the public map updates instantly.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Disaster response doesn't end when the rescue boat docks. Displaced citizens are often separated from children and elderly parents. Our I'm Safe registry lets evacuees register in 30 seconds, enabling loved ones anywhere in the world to search and verify their safety. Simultaneously, relief coordinators track real-time shelter bed counts so camps never dangerously overflow.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Fender delivers immediate, measurable impact: a 90% reduction in dispatcher triage time, 90% duplicate elimination, and zero ghost clearances. Our architecture is built for production: Next.js 16.3 on Vercel Edge, Supabase PostGIS with Row Level Security, and Google Gemini 2.5 multimodal vision.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vision goes beyond this competition. We are architecting offline LoRa mesh synchronization for total cellular tower blackouts, aerial drone video feeds, and direct integration with Sri Lanka's Disaster Management Centre. When monsoons come, speed and clarity save lives. Fender delivers both. Thank you—we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7.jpg"/><Relationship Id="rId4"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01968"/>
            <a:ext cx="12191695" cy="256032"/>
          </a:xfrm>
          <a:prstGeom prst="rect">
            <a:avLst/>
          </a:prstGeom>
          <a:solidFill>
            <a:srgbClr val="080E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3794760" y="256032"/>
            <a:ext cx="4617720" cy="292608"/>
          </a:xfrm>
          <a:prstGeom prst="roundRect">
            <a:avLst>
              <a:gd name="adj" fmla="val 50000"/>
            </a:avLst>
          </a:prstGeom>
          <a:solidFill>
            <a:srgbClr val="123A4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000" b="1">
                <a:solidFill>
                  <a:srgbClr val="22D3EE"/>
                </a:solidFill>
                <a:latin typeface="Calibri"/>
              </a:rPr>
              <a:t>CODEARENA '26  ·  TOPIC 04: DISASTER RESPONSE</a:t>
            </a:r>
          </a:p>
        </p:txBody>
      </p:sp>
      <p:sp>
        <p:nvSpPr>
          <p:cNvPr id="5" name="Rounded Rectangle 4"/>
          <p:cNvSpPr/>
          <p:nvPr/>
        </p:nvSpPr>
        <p:spPr>
          <a:xfrm>
            <a:off x="5440680" y="713232"/>
            <a:ext cx="1316736" cy="1316736"/>
          </a:xfrm>
          <a:prstGeom prst="roundRect">
            <a:avLst>
              <a:gd name="adj" fmla="val 18000"/>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ender-logo.png"/>
          <p:cNvPicPr>
            <a:picLocks noChangeAspect="1"/>
          </p:cNvPicPr>
          <p:nvPr/>
        </p:nvPicPr>
        <p:blipFill>
          <a:blip r:embed="rId3"/>
          <a:stretch>
            <a:fillRect/>
          </a:stretch>
        </p:blipFill>
        <p:spPr>
          <a:xfrm>
            <a:off x="5550408" y="822960"/>
            <a:ext cx="1097280" cy="1097280"/>
          </a:xfrm>
          <a:prstGeom prst="rect">
            <a:avLst/>
          </a:prstGeom>
        </p:spPr>
      </p:pic>
      <p:sp>
        <p:nvSpPr>
          <p:cNvPr id="7" name="TextBox 6"/>
          <p:cNvSpPr txBox="1"/>
          <p:nvPr/>
        </p:nvSpPr>
        <p:spPr>
          <a:xfrm>
            <a:off x="457200" y="2084831"/>
            <a:ext cx="11247120" cy="777240"/>
          </a:xfrm>
          <a:prstGeom prst="rect">
            <a:avLst/>
          </a:prstGeom>
          <a:noFill/>
        </p:spPr>
        <p:txBody>
          <a:bodyPr wrap="square" anchor="t"/>
          <a:lstStyle/>
          <a:p>
            <a:pPr algn="ctr"/>
            <a:r>
              <a:rPr sz="5400" b="1">
                <a:solidFill>
                  <a:srgbClr val="F8FAFC"/>
                </a:solidFill>
                <a:latin typeface="Calibri"/>
              </a:rPr>
              <a:t>FENDER</a:t>
            </a:r>
          </a:p>
        </p:txBody>
      </p:sp>
      <p:sp>
        <p:nvSpPr>
          <p:cNvPr id="8" name="TextBox 7"/>
          <p:cNvSpPr txBox="1"/>
          <p:nvPr/>
        </p:nvSpPr>
        <p:spPr>
          <a:xfrm>
            <a:off x="1280160" y="2834640"/>
            <a:ext cx="9601200" cy="640080"/>
          </a:xfrm>
          <a:prstGeom prst="rect">
            <a:avLst/>
          </a:prstGeom>
          <a:noFill/>
        </p:spPr>
        <p:txBody>
          <a:bodyPr wrap="square" anchor="t"/>
          <a:lstStyle/>
          <a:p>
            <a:pPr algn="ctr"/>
            <a:r>
              <a:rPr sz="1600" b="0">
                <a:solidFill>
                  <a:srgbClr val="CBD5E1"/>
                </a:solidFill>
                <a:latin typeface="Calibri"/>
              </a:rPr>
              <a:t>Next-Gen National Disaster Risk Reduction &amp;
Emergency Management System  ·  Kelani River Basin &amp; Beyond</a:t>
            </a:r>
          </a:p>
        </p:txBody>
      </p:sp>
      <p:sp>
        <p:nvSpPr>
          <p:cNvPr id="9" name="Rounded Rectangle 8"/>
          <p:cNvSpPr/>
          <p:nvPr/>
        </p:nvSpPr>
        <p:spPr>
          <a:xfrm>
            <a:off x="502920" y="3657600"/>
            <a:ext cx="2724912" cy="1691640"/>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3657600"/>
            <a:ext cx="73152" cy="16916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3785615"/>
            <a:ext cx="2395728" cy="292608"/>
          </a:xfrm>
          <a:prstGeom prst="rect">
            <a:avLst/>
          </a:prstGeom>
          <a:noFill/>
        </p:spPr>
        <p:txBody>
          <a:bodyPr wrap="square" anchor="t"/>
          <a:lstStyle/>
          <a:p>
            <a:pPr algn="l"/>
            <a:r>
              <a:rPr sz="1200" b="1">
                <a:solidFill>
                  <a:srgbClr val="3B82F6"/>
                </a:solidFill>
                <a:latin typeface="Calibri"/>
              </a:rPr>
              <a:t>5-CHECK AI</a:t>
            </a:r>
          </a:p>
        </p:txBody>
      </p:sp>
      <p:sp>
        <p:nvSpPr>
          <p:cNvPr id="12" name="TextBox 11"/>
          <p:cNvSpPr txBox="1"/>
          <p:nvPr/>
        </p:nvSpPr>
        <p:spPr>
          <a:xfrm>
            <a:off x="704088" y="4114800"/>
            <a:ext cx="2395728" cy="1005840"/>
          </a:xfrm>
          <a:prstGeom prst="rect">
            <a:avLst/>
          </a:prstGeom>
          <a:noFill/>
        </p:spPr>
        <p:txBody>
          <a:bodyPr wrap="square" anchor="t"/>
          <a:lstStyle/>
          <a:p>
            <a:pPr algn="l"/>
            <a:r>
              <a:rPr sz="1300" b="0">
                <a:solidFill>
                  <a:srgbClr val="CBD5E1"/>
                </a:solidFill>
                <a:latin typeface="Calibri"/>
              </a:rPr>
              <a:t>Gemini Vision + PostGIS
spatial clustering</a:t>
            </a:r>
          </a:p>
        </p:txBody>
      </p:sp>
      <p:sp>
        <p:nvSpPr>
          <p:cNvPr id="13" name="Rounded Rectangle 12"/>
          <p:cNvSpPr/>
          <p:nvPr/>
        </p:nvSpPr>
        <p:spPr>
          <a:xfrm>
            <a:off x="3383280" y="3657600"/>
            <a:ext cx="2724912" cy="1691640"/>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83280" y="3657600"/>
            <a:ext cx="73152" cy="1691640"/>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84448" y="3785615"/>
            <a:ext cx="2395728" cy="292608"/>
          </a:xfrm>
          <a:prstGeom prst="rect">
            <a:avLst/>
          </a:prstGeom>
          <a:noFill/>
        </p:spPr>
        <p:txBody>
          <a:bodyPr wrap="square" anchor="t"/>
          <a:lstStyle/>
          <a:p>
            <a:pPr algn="l"/>
            <a:r>
              <a:rPr sz="1200" b="1">
                <a:solidFill>
                  <a:srgbClr val="22D3EE"/>
                </a:solidFill>
                <a:latin typeface="Calibri"/>
              </a:rPr>
              <a:t>EARLY WARNING</a:t>
            </a:r>
          </a:p>
        </p:txBody>
      </p:sp>
      <p:sp>
        <p:nvSpPr>
          <p:cNvPr id="16" name="TextBox 15"/>
          <p:cNvSpPr txBox="1"/>
          <p:nvPr/>
        </p:nvSpPr>
        <p:spPr>
          <a:xfrm>
            <a:off x="3584448" y="4114800"/>
            <a:ext cx="2395728" cy="1005840"/>
          </a:xfrm>
          <a:prstGeom prst="rect">
            <a:avLst/>
          </a:prstGeom>
          <a:noFill/>
        </p:spPr>
        <p:txBody>
          <a:bodyPr wrap="square" anchor="t"/>
          <a:lstStyle/>
          <a:p>
            <a:pPr algn="l"/>
            <a:r>
              <a:rPr sz="1300" b="0">
                <a:solidFill>
                  <a:srgbClr val="CBD5E1"/>
                </a:solidFill>
                <a:latin typeface="Calibri"/>
              </a:rPr>
              <a:t>Autonomous rainfall &amp;
river gauge triggers</a:t>
            </a:r>
          </a:p>
        </p:txBody>
      </p:sp>
      <p:sp>
        <p:nvSpPr>
          <p:cNvPr id="17" name="Rounded Rectangle 16"/>
          <p:cNvSpPr/>
          <p:nvPr/>
        </p:nvSpPr>
        <p:spPr>
          <a:xfrm>
            <a:off x="6263640" y="3657600"/>
            <a:ext cx="2724912" cy="1691640"/>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63640" y="3657600"/>
            <a:ext cx="73152" cy="16916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64808" y="3785615"/>
            <a:ext cx="2395728" cy="292608"/>
          </a:xfrm>
          <a:prstGeom prst="rect">
            <a:avLst/>
          </a:prstGeom>
          <a:noFill/>
        </p:spPr>
        <p:txBody>
          <a:bodyPr wrap="square" anchor="t"/>
          <a:lstStyle/>
          <a:p>
            <a:pPr algn="l"/>
            <a:r>
              <a:rPr sz="1200" b="1">
                <a:solidFill>
                  <a:srgbClr val="F59E0B"/>
                </a:solidFill>
                <a:latin typeface="Calibri"/>
              </a:rPr>
              <a:t>ANTI-GHOST</a:t>
            </a:r>
          </a:p>
        </p:txBody>
      </p:sp>
      <p:sp>
        <p:nvSpPr>
          <p:cNvPr id="20" name="TextBox 19"/>
          <p:cNvSpPr txBox="1"/>
          <p:nvPr/>
        </p:nvSpPr>
        <p:spPr>
          <a:xfrm>
            <a:off x="6464808" y="4114800"/>
            <a:ext cx="2395728" cy="1005840"/>
          </a:xfrm>
          <a:prstGeom prst="rect">
            <a:avLst/>
          </a:prstGeom>
          <a:noFill/>
        </p:spPr>
        <p:txBody>
          <a:bodyPr wrap="square" anchor="t"/>
          <a:lstStyle/>
          <a:p>
            <a:pPr algn="l"/>
            <a:r>
              <a:rPr sz="1300" b="0">
                <a:solidFill>
                  <a:srgbClr val="CBD5E1"/>
                </a:solidFill>
                <a:latin typeface="Calibri"/>
              </a:rPr>
              <a:t>Mandatory photo proof
before road clearance</a:t>
            </a:r>
          </a:p>
        </p:txBody>
      </p:sp>
      <p:sp>
        <p:nvSpPr>
          <p:cNvPr id="21" name="Rounded Rectangle 20"/>
          <p:cNvSpPr/>
          <p:nvPr/>
        </p:nvSpPr>
        <p:spPr>
          <a:xfrm>
            <a:off x="9144000" y="3657600"/>
            <a:ext cx="2724912" cy="1691640"/>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0" y="3657600"/>
            <a:ext cx="73152" cy="16916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345168" y="3785615"/>
            <a:ext cx="2395728" cy="292608"/>
          </a:xfrm>
          <a:prstGeom prst="rect">
            <a:avLst/>
          </a:prstGeom>
          <a:noFill/>
        </p:spPr>
        <p:txBody>
          <a:bodyPr wrap="square" anchor="t"/>
          <a:lstStyle/>
          <a:p>
            <a:pPr algn="l"/>
            <a:r>
              <a:rPr sz="1200" b="1">
                <a:solidFill>
                  <a:srgbClr val="10B981"/>
                </a:solidFill>
                <a:latin typeface="Calibri"/>
              </a:rPr>
              <a:t>REUNIFICATION</a:t>
            </a:r>
          </a:p>
        </p:txBody>
      </p:sp>
      <p:sp>
        <p:nvSpPr>
          <p:cNvPr id="24" name="TextBox 23"/>
          <p:cNvSpPr txBox="1"/>
          <p:nvPr/>
        </p:nvSpPr>
        <p:spPr>
          <a:xfrm>
            <a:off x="9345168" y="4114800"/>
            <a:ext cx="2395728" cy="1005840"/>
          </a:xfrm>
          <a:prstGeom prst="rect">
            <a:avLst/>
          </a:prstGeom>
          <a:noFill/>
        </p:spPr>
        <p:txBody>
          <a:bodyPr wrap="square" anchor="t"/>
          <a:lstStyle/>
          <a:p>
            <a:pPr algn="l"/>
            <a:r>
              <a:rPr sz="1300" b="0">
                <a:solidFill>
                  <a:srgbClr val="CBD5E1"/>
                </a:solidFill>
                <a:latin typeface="Calibri"/>
              </a:rPr>
              <a:t>I'm Safe registry &amp;
live shelter telemetry</a:t>
            </a:r>
          </a:p>
        </p:txBody>
      </p:sp>
      <p:sp>
        <p:nvSpPr>
          <p:cNvPr id="25" name="TextBox 24"/>
          <p:cNvSpPr txBox="1"/>
          <p:nvPr/>
        </p:nvSpPr>
        <p:spPr>
          <a:xfrm>
            <a:off x="457200" y="5532120"/>
            <a:ext cx="11247120" cy="256032"/>
          </a:xfrm>
          <a:prstGeom prst="rect">
            <a:avLst/>
          </a:prstGeom>
          <a:noFill/>
        </p:spPr>
        <p:txBody>
          <a:bodyPr wrap="square" anchor="t"/>
          <a:lstStyle/>
          <a:p>
            <a:pPr algn="ctr"/>
            <a:r>
              <a:rPr sz="1200" b="1">
                <a:solidFill>
                  <a:srgbClr val="22D3EE"/>
                </a:solidFill>
                <a:latin typeface="Calibri"/>
              </a:rPr>
              <a:t>LIVE ON VERCEL   ·   Next.js 16.3  +  Supabase PostGIS  +  Google Gemini 2.5  +  Expo SDK 57</a:t>
            </a:r>
          </a:p>
        </p:txBody>
      </p:sp>
      <p:sp>
        <p:nvSpPr>
          <p:cNvPr id="26" name="TextBox 25"/>
          <p:cNvSpPr txBox="1"/>
          <p:nvPr/>
        </p:nvSpPr>
        <p:spPr>
          <a:xfrm>
            <a:off x="457200" y="5833872"/>
            <a:ext cx="11247120" cy="237744"/>
          </a:xfrm>
          <a:prstGeom prst="rect">
            <a:avLst/>
          </a:prstGeom>
          <a:noFill/>
        </p:spPr>
        <p:txBody>
          <a:bodyPr wrap="square" anchor="t"/>
          <a:lstStyle/>
          <a:p>
            <a:pPr algn="ctr"/>
            <a:r>
              <a:rPr sz="1200" b="0">
                <a:solidFill>
                  <a:srgbClr val="94A3B8"/>
                </a:solidFill>
                <a:latin typeface="Calibri"/>
              </a:rPr>
              <a:t>https://backend-chi-gilt-80.vercel.app</a:t>
            </a:r>
          </a:p>
        </p:txBody>
      </p:sp>
      <p:sp>
        <p:nvSpPr>
          <p:cNvPr id="27" name="TextBox 26"/>
          <p:cNvSpPr txBox="1"/>
          <p:nvPr/>
        </p:nvSpPr>
        <p:spPr>
          <a:xfrm>
            <a:off x="411480" y="6620256"/>
            <a:ext cx="11338560" cy="219456"/>
          </a:xfrm>
          <a:prstGeom prst="rect">
            <a:avLst/>
          </a:prstGeom>
          <a:noFill/>
        </p:spPr>
        <p:txBody>
          <a:bodyPr wrap="square" anchor="t"/>
          <a:lstStyle/>
          <a:p>
            <a:pPr algn="ctr"/>
            <a:r>
              <a:rPr sz="900" b="0">
                <a:solidFill>
                  <a:srgbClr val="94A3B8"/>
                </a:solidFill>
                <a:latin typeface="Calibri"/>
              </a:rPr>
              <a:t>FENDER Engineering Team  ·  CodeArena '26  ·  Slide 1 /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01968"/>
            <a:ext cx="12191695" cy="256032"/>
          </a:xfrm>
          <a:prstGeom prst="rect">
            <a:avLst/>
          </a:prstGeom>
          <a:solidFill>
            <a:srgbClr val="080E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11338560" cy="256032"/>
          </a:xfrm>
          <a:prstGeom prst="rect">
            <a:avLst/>
          </a:prstGeom>
          <a:noFill/>
        </p:spPr>
        <p:txBody>
          <a:bodyPr wrap="square" anchor="t"/>
          <a:lstStyle/>
          <a:p>
            <a:pPr algn="l"/>
            <a:r>
              <a:rPr sz="1100" b="1">
                <a:solidFill>
                  <a:srgbClr val="22D3EE"/>
                </a:solidFill>
                <a:latin typeface="Calibri"/>
              </a:rPr>
              <a:t>THE CRISIS IN COLOMBO</a:t>
            </a:r>
          </a:p>
        </p:txBody>
      </p:sp>
      <p:sp>
        <p:nvSpPr>
          <p:cNvPr id="5" name="TextBox 4"/>
          <p:cNvSpPr txBox="1"/>
          <p:nvPr/>
        </p:nvSpPr>
        <p:spPr>
          <a:xfrm>
            <a:off x="411480" y="384048"/>
            <a:ext cx="11338560" cy="438912"/>
          </a:xfrm>
          <a:prstGeom prst="rect">
            <a:avLst/>
          </a:prstGeom>
          <a:noFill/>
        </p:spPr>
        <p:txBody>
          <a:bodyPr wrap="square" anchor="t"/>
          <a:lstStyle/>
          <a:p>
            <a:pPr algn="l"/>
            <a:r>
              <a:rPr sz="2600" b="1">
                <a:solidFill>
                  <a:srgbClr val="F8FAFC"/>
                </a:solidFill>
                <a:latin typeface="Calibri"/>
              </a:rPr>
              <a:t>The Deadly 45-Minute Information Void</a:t>
            </a:r>
          </a:p>
        </p:txBody>
      </p:sp>
      <p:sp>
        <p:nvSpPr>
          <p:cNvPr id="6" name="TextBox 5"/>
          <p:cNvSpPr txBox="1"/>
          <p:nvPr/>
        </p:nvSpPr>
        <p:spPr>
          <a:xfrm>
            <a:off x="411480" y="804672"/>
            <a:ext cx="11338560" cy="292608"/>
          </a:xfrm>
          <a:prstGeom prst="rect">
            <a:avLst/>
          </a:prstGeom>
          <a:noFill/>
        </p:spPr>
        <p:txBody>
          <a:bodyPr wrap="square" anchor="t"/>
          <a:lstStyle/>
          <a:p>
            <a:pPr algn="l"/>
            <a:r>
              <a:rPr sz="1300" b="0">
                <a:solidFill>
                  <a:srgbClr val="94A3B8"/>
                </a:solidFill>
                <a:latin typeface="Calibri"/>
              </a:rPr>
              <a:t>Why traditional disaster response collapses when the Kelani overflows</a:t>
            </a:r>
          </a:p>
        </p:txBody>
      </p:sp>
      <p:sp>
        <p:nvSpPr>
          <p:cNvPr id="7" name="TextBox 6"/>
          <p:cNvSpPr txBox="1"/>
          <p:nvPr/>
        </p:nvSpPr>
        <p:spPr>
          <a:xfrm>
            <a:off x="365760" y="6620256"/>
            <a:ext cx="5486400" cy="219456"/>
          </a:xfrm>
          <a:prstGeom prst="rect">
            <a:avLst/>
          </a:prstGeom>
          <a:noFill/>
        </p:spPr>
        <p:txBody>
          <a:bodyPr wrap="square" anchor="t"/>
          <a:lstStyle/>
          <a:p>
            <a:pPr algn="l"/>
            <a:r>
              <a:rPr sz="900" b="0">
                <a:solidFill>
                  <a:srgbClr val="94A3B8"/>
                </a:solidFill>
                <a:latin typeface="Calibri"/>
              </a:rPr>
              <a:t>FENDER  ·  CodeArena '26  ·  Topic 04: Disaster Response</a:t>
            </a:r>
          </a:p>
        </p:txBody>
      </p:sp>
      <p:sp>
        <p:nvSpPr>
          <p:cNvPr id="8" name="TextBox 7"/>
          <p:cNvSpPr txBox="1"/>
          <p:nvPr/>
        </p:nvSpPr>
        <p:spPr>
          <a:xfrm>
            <a:off x="9692640" y="6620256"/>
            <a:ext cx="2103120" cy="219456"/>
          </a:xfrm>
          <a:prstGeom prst="rect">
            <a:avLst/>
          </a:prstGeom>
          <a:noFill/>
        </p:spPr>
        <p:txBody>
          <a:bodyPr wrap="square" anchor="t"/>
          <a:lstStyle/>
          <a:p>
            <a:pPr algn="r"/>
            <a:r>
              <a:rPr sz="900" b="0">
                <a:solidFill>
                  <a:srgbClr val="94A3B8"/>
                </a:solidFill>
                <a:latin typeface="Calibri"/>
              </a:rPr>
              <a:t>2  /  10</a:t>
            </a:r>
          </a:p>
        </p:txBody>
      </p:sp>
      <p:sp>
        <p:nvSpPr>
          <p:cNvPr id="9" name="Rounded Rectangle 8"/>
          <p:cNvSpPr/>
          <p:nvPr/>
        </p:nvSpPr>
        <p:spPr>
          <a:xfrm>
            <a:off x="365760" y="1207008"/>
            <a:ext cx="6537960" cy="1152144"/>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30352" y="1499616"/>
            <a:ext cx="566928" cy="566928"/>
          </a:xfrm>
          <a:prstGeom prst="roundRect">
            <a:avLst>
              <a:gd name="adj" fmla="val 18000"/>
            </a:avLst>
          </a:prstGeom>
          <a:solidFill>
            <a:srgbClr val="F871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8FAFC"/>
                </a:solidFill>
                <a:latin typeface="Calibri"/>
              </a:rPr>
              <a:t>01</a:t>
            </a:r>
          </a:p>
        </p:txBody>
      </p:sp>
      <p:sp>
        <p:nvSpPr>
          <p:cNvPr id="11" name="TextBox 10"/>
          <p:cNvSpPr txBox="1"/>
          <p:nvPr/>
        </p:nvSpPr>
        <p:spPr>
          <a:xfrm>
            <a:off x="1280160" y="1335024"/>
            <a:ext cx="5440680" cy="329184"/>
          </a:xfrm>
          <a:prstGeom prst="rect">
            <a:avLst/>
          </a:prstGeom>
          <a:noFill/>
        </p:spPr>
        <p:txBody>
          <a:bodyPr wrap="square" anchor="t"/>
          <a:lstStyle/>
          <a:p>
            <a:pPr algn="l"/>
            <a:r>
              <a:rPr sz="1600" b="1">
                <a:solidFill>
                  <a:srgbClr val="F8FAFC"/>
                </a:solidFill>
                <a:latin typeface="Calibri"/>
              </a:rPr>
              <a:t>Verification delay &amp; spam</a:t>
            </a:r>
          </a:p>
        </p:txBody>
      </p:sp>
      <p:sp>
        <p:nvSpPr>
          <p:cNvPr id="12" name="TextBox 11"/>
          <p:cNvSpPr txBox="1"/>
          <p:nvPr/>
        </p:nvSpPr>
        <p:spPr>
          <a:xfrm>
            <a:off x="1280160" y="1664208"/>
            <a:ext cx="5440680" cy="603504"/>
          </a:xfrm>
          <a:prstGeom prst="rect">
            <a:avLst/>
          </a:prstGeom>
          <a:noFill/>
        </p:spPr>
        <p:txBody>
          <a:bodyPr wrap="square" anchor="t"/>
          <a:lstStyle/>
          <a:p>
            <a:pPr algn="l"/>
            <a:r>
              <a:rPr sz="1200" b="0">
                <a:solidFill>
                  <a:srgbClr val="CBD5E1"/>
                </a:solidFill>
                <a:latin typeface="Calibri"/>
              </a:rPr>
              <a:t>117 / 1990 lines are paralyzed by unstructured panic calls. Dispatchers take 30–45 minutes to confirm a single incident.</a:t>
            </a:r>
          </a:p>
        </p:txBody>
      </p:sp>
      <p:sp>
        <p:nvSpPr>
          <p:cNvPr id="13" name="Rounded Rectangle 12"/>
          <p:cNvSpPr/>
          <p:nvPr/>
        </p:nvSpPr>
        <p:spPr>
          <a:xfrm>
            <a:off x="365760" y="2468880"/>
            <a:ext cx="6537960" cy="1152144"/>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30352" y="2761488"/>
            <a:ext cx="566928" cy="566928"/>
          </a:xfrm>
          <a:prstGeom prst="roundRect">
            <a:avLst>
              <a:gd name="adj" fmla="val 18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8FAFC"/>
                </a:solidFill>
                <a:latin typeface="Calibri"/>
              </a:rPr>
              <a:t>02</a:t>
            </a:r>
          </a:p>
        </p:txBody>
      </p:sp>
      <p:sp>
        <p:nvSpPr>
          <p:cNvPr id="15" name="TextBox 14"/>
          <p:cNvSpPr txBox="1"/>
          <p:nvPr/>
        </p:nvSpPr>
        <p:spPr>
          <a:xfrm>
            <a:off x="1280160" y="2596896"/>
            <a:ext cx="5440680" cy="329184"/>
          </a:xfrm>
          <a:prstGeom prst="rect">
            <a:avLst/>
          </a:prstGeom>
          <a:noFill/>
        </p:spPr>
        <p:txBody>
          <a:bodyPr wrap="square" anchor="t"/>
          <a:lstStyle/>
          <a:p>
            <a:pPr algn="l"/>
            <a:r>
              <a:rPr sz="1600" b="1">
                <a:solidFill>
                  <a:srgbClr val="F8FAFC"/>
                </a:solidFill>
                <a:latin typeface="Calibri"/>
              </a:rPr>
              <a:t>Duplicate ticket avalanche</a:t>
            </a:r>
          </a:p>
        </p:txBody>
      </p:sp>
      <p:sp>
        <p:nvSpPr>
          <p:cNvPr id="16" name="TextBox 15"/>
          <p:cNvSpPr txBox="1"/>
          <p:nvPr/>
        </p:nvSpPr>
        <p:spPr>
          <a:xfrm>
            <a:off x="1280160" y="2926080"/>
            <a:ext cx="5440680" cy="603504"/>
          </a:xfrm>
          <a:prstGeom prst="rect">
            <a:avLst/>
          </a:prstGeom>
          <a:noFill/>
        </p:spPr>
        <p:txBody>
          <a:bodyPr wrap="square" anchor="t"/>
          <a:lstStyle/>
          <a:p>
            <a:pPr algn="l"/>
            <a:r>
              <a:rPr sz="1200" b="0">
                <a:solidFill>
                  <a:srgbClr val="CBD5E1"/>
                </a:solidFill>
                <a:latin typeface="Calibri"/>
              </a:rPr>
              <a:t>One fallen tree in Sedawatta triggers 50 duplicate reports, pulling crews away from life-threatening floods nearby.</a:t>
            </a:r>
          </a:p>
        </p:txBody>
      </p:sp>
      <p:sp>
        <p:nvSpPr>
          <p:cNvPr id="17" name="Rounded Rectangle 16"/>
          <p:cNvSpPr/>
          <p:nvPr/>
        </p:nvSpPr>
        <p:spPr>
          <a:xfrm>
            <a:off x="365760" y="3730752"/>
            <a:ext cx="6537960" cy="1152144"/>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30352" y="4023360"/>
            <a:ext cx="566928" cy="566928"/>
          </a:xfrm>
          <a:prstGeom prst="roundRect">
            <a:avLst>
              <a:gd name="adj" fmla="val 18000"/>
            </a:avLst>
          </a:prstGeom>
          <a:solidFill>
            <a:srgbClr val="FB92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8FAFC"/>
                </a:solidFill>
                <a:latin typeface="Calibri"/>
              </a:rPr>
              <a:t>03</a:t>
            </a:r>
          </a:p>
        </p:txBody>
      </p:sp>
      <p:sp>
        <p:nvSpPr>
          <p:cNvPr id="19" name="TextBox 18"/>
          <p:cNvSpPr txBox="1"/>
          <p:nvPr/>
        </p:nvSpPr>
        <p:spPr>
          <a:xfrm>
            <a:off x="1280160" y="3858768"/>
            <a:ext cx="5440680" cy="329184"/>
          </a:xfrm>
          <a:prstGeom prst="rect">
            <a:avLst/>
          </a:prstGeom>
          <a:noFill/>
        </p:spPr>
        <p:txBody>
          <a:bodyPr wrap="square" anchor="t"/>
          <a:lstStyle/>
          <a:p>
            <a:pPr algn="l"/>
            <a:r>
              <a:rPr sz="1600" b="1">
                <a:solidFill>
                  <a:srgbClr val="F8FAFC"/>
                </a:solidFill>
                <a:latin typeface="Calibri"/>
              </a:rPr>
              <a:t>Ghost clearances</a:t>
            </a:r>
          </a:p>
        </p:txBody>
      </p:sp>
      <p:sp>
        <p:nvSpPr>
          <p:cNvPr id="20" name="TextBox 19"/>
          <p:cNvSpPr txBox="1"/>
          <p:nvPr/>
        </p:nvSpPr>
        <p:spPr>
          <a:xfrm>
            <a:off x="1280160" y="4187952"/>
            <a:ext cx="5440680" cy="603504"/>
          </a:xfrm>
          <a:prstGeom prst="rect">
            <a:avLst/>
          </a:prstGeom>
          <a:noFill/>
        </p:spPr>
        <p:txBody>
          <a:bodyPr wrap="square" anchor="t"/>
          <a:lstStyle/>
          <a:p>
            <a:pPr algn="l"/>
            <a:r>
              <a:rPr sz="1200" b="0">
                <a:solidFill>
                  <a:srgbClr val="CBD5E1"/>
                </a:solidFill>
                <a:latin typeface="Calibri"/>
              </a:rPr>
              <a:t>Field units radio that a road is clear with no proof. Ambulances then drive into submerged culverts and dead ends.</a:t>
            </a:r>
          </a:p>
        </p:txBody>
      </p:sp>
      <p:sp>
        <p:nvSpPr>
          <p:cNvPr id="21" name="Rounded Rectangle 20"/>
          <p:cNvSpPr/>
          <p:nvPr/>
        </p:nvSpPr>
        <p:spPr>
          <a:xfrm>
            <a:off x="365760" y="4992624"/>
            <a:ext cx="6537960" cy="1152144"/>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30352" y="5285232"/>
            <a:ext cx="566928" cy="566928"/>
          </a:xfrm>
          <a:prstGeom prst="roundRect">
            <a:avLst>
              <a:gd name="adj" fmla="val 18000"/>
            </a:avLst>
          </a:prstGeom>
          <a:solidFill>
            <a:srgbClr val="C08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8FAFC"/>
                </a:solidFill>
                <a:latin typeface="Calibri"/>
              </a:rPr>
              <a:t>04</a:t>
            </a:r>
          </a:p>
        </p:txBody>
      </p:sp>
      <p:sp>
        <p:nvSpPr>
          <p:cNvPr id="23" name="TextBox 22"/>
          <p:cNvSpPr txBox="1"/>
          <p:nvPr/>
        </p:nvSpPr>
        <p:spPr>
          <a:xfrm>
            <a:off x="1280160" y="5120640"/>
            <a:ext cx="5440680" cy="329184"/>
          </a:xfrm>
          <a:prstGeom prst="rect">
            <a:avLst/>
          </a:prstGeom>
          <a:noFill/>
        </p:spPr>
        <p:txBody>
          <a:bodyPr wrap="square" anchor="t"/>
          <a:lstStyle/>
          <a:p>
            <a:pPr algn="l"/>
            <a:r>
              <a:rPr sz="1600" b="1">
                <a:solidFill>
                  <a:srgbClr val="F8FAFC"/>
                </a:solidFill>
                <a:latin typeface="Calibri"/>
              </a:rPr>
              <a:t>The missing evacuee void</a:t>
            </a:r>
          </a:p>
        </p:txBody>
      </p:sp>
      <p:sp>
        <p:nvSpPr>
          <p:cNvPr id="24" name="TextBox 23"/>
          <p:cNvSpPr txBox="1"/>
          <p:nvPr/>
        </p:nvSpPr>
        <p:spPr>
          <a:xfrm>
            <a:off x="1280160" y="5449824"/>
            <a:ext cx="5440680" cy="603504"/>
          </a:xfrm>
          <a:prstGeom prst="rect">
            <a:avLst/>
          </a:prstGeom>
          <a:noFill/>
        </p:spPr>
        <p:txBody>
          <a:bodyPr wrap="square" anchor="t"/>
          <a:lstStyle/>
          <a:p>
            <a:pPr algn="l"/>
            <a:r>
              <a:rPr sz="1200" b="0">
                <a:solidFill>
                  <a:srgbClr val="CBD5E1"/>
                </a:solidFill>
                <a:latin typeface="Calibri"/>
              </a:rPr>
              <a:t>Children and elderly citizens are scattered across temples and schools with no unified shelter roster.</a:t>
            </a:r>
          </a:p>
        </p:txBody>
      </p:sp>
      <p:sp>
        <p:nvSpPr>
          <p:cNvPr id="25" name="Rounded Rectangle 24"/>
          <p:cNvSpPr/>
          <p:nvPr/>
        </p:nvSpPr>
        <p:spPr>
          <a:xfrm>
            <a:off x="7086600" y="1207008"/>
            <a:ext cx="4709160" cy="5047488"/>
          </a:xfrm>
          <a:prstGeom prst="roundRect">
            <a:avLst>
              <a:gd name="adj" fmla="val 8000"/>
            </a:avLst>
          </a:prstGeom>
          <a:solidFill>
            <a:srgbClr val="16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0" y="1353312"/>
            <a:ext cx="4297680" cy="256032"/>
          </a:xfrm>
          <a:prstGeom prst="rect">
            <a:avLst/>
          </a:prstGeom>
          <a:noFill/>
        </p:spPr>
        <p:txBody>
          <a:bodyPr wrap="square" anchor="t"/>
          <a:lstStyle/>
          <a:p>
            <a:pPr algn="l"/>
            <a:r>
              <a:rPr sz="1100" b="1">
                <a:solidFill>
                  <a:srgbClr val="22D3EE"/>
                </a:solidFill>
                <a:latin typeface="Calibri"/>
              </a:rPr>
              <a:t>KELANI BASIN RISK SNAPSHOT</a:t>
            </a:r>
          </a:p>
        </p:txBody>
      </p:sp>
      <p:sp>
        <p:nvSpPr>
          <p:cNvPr id="27" name="TextBox 26"/>
          <p:cNvSpPr txBox="1"/>
          <p:nvPr/>
        </p:nvSpPr>
        <p:spPr>
          <a:xfrm>
            <a:off x="7315200" y="1627632"/>
            <a:ext cx="4297680" cy="219456"/>
          </a:xfrm>
          <a:prstGeom prst="rect">
            <a:avLst/>
          </a:prstGeom>
          <a:noFill/>
        </p:spPr>
        <p:txBody>
          <a:bodyPr wrap="square" anchor="t"/>
          <a:lstStyle/>
          <a:p>
            <a:pPr algn="l"/>
            <a:r>
              <a:rPr sz="1100" b="0">
                <a:solidFill>
                  <a:srgbClr val="94A3B8"/>
                </a:solidFill>
                <a:latin typeface="Calibri"/>
              </a:rPr>
              <a:t>Nagalagam Street gauge  ·  88%</a:t>
            </a:r>
          </a:p>
        </p:txBody>
      </p:sp>
      <p:sp>
        <p:nvSpPr>
          <p:cNvPr id="28" name="Rounded Rectangle 27"/>
          <p:cNvSpPr/>
          <p:nvPr/>
        </p:nvSpPr>
        <p:spPr>
          <a:xfrm>
            <a:off x="7315200" y="2011680"/>
            <a:ext cx="4297680" cy="1417320"/>
          </a:xfrm>
          <a:prstGeom prst="roundRect">
            <a:avLst>
              <a:gd name="adj" fmla="val 8000"/>
            </a:avLst>
          </a:prstGeom>
          <a:solidFill>
            <a:srgbClr val="2A14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2121408"/>
            <a:ext cx="3977639" cy="219456"/>
          </a:xfrm>
          <a:prstGeom prst="rect">
            <a:avLst/>
          </a:prstGeom>
          <a:noFill/>
        </p:spPr>
        <p:txBody>
          <a:bodyPr wrap="square" anchor="t"/>
          <a:lstStyle/>
          <a:p>
            <a:pPr algn="l"/>
            <a:r>
              <a:rPr sz="1000" b="1">
                <a:solidFill>
                  <a:srgbClr val="F87171"/>
                </a:solidFill>
                <a:latin typeface="Calibri"/>
              </a:rPr>
              <a:t>TRADITIONAL CYCLE</a:t>
            </a:r>
          </a:p>
        </p:txBody>
      </p:sp>
      <p:sp>
        <p:nvSpPr>
          <p:cNvPr id="30" name="TextBox 29"/>
          <p:cNvSpPr txBox="1"/>
          <p:nvPr/>
        </p:nvSpPr>
        <p:spPr>
          <a:xfrm>
            <a:off x="7479792" y="2359152"/>
            <a:ext cx="3977639" cy="365760"/>
          </a:xfrm>
          <a:prstGeom prst="rect">
            <a:avLst/>
          </a:prstGeom>
          <a:noFill/>
        </p:spPr>
        <p:txBody>
          <a:bodyPr wrap="square" anchor="t"/>
          <a:lstStyle/>
          <a:p>
            <a:pPr algn="l"/>
            <a:r>
              <a:rPr sz="1400" b="1">
                <a:solidFill>
                  <a:srgbClr val="F8FAFC"/>
                </a:solidFill>
                <a:latin typeface="Calibri"/>
              </a:rPr>
              <a:t>Incident  →  45+ min delay  →  Triage</a:t>
            </a:r>
          </a:p>
        </p:txBody>
      </p:sp>
      <p:sp>
        <p:nvSpPr>
          <p:cNvPr id="31" name="TextBox 30"/>
          <p:cNvSpPr txBox="1"/>
          <p:nvPr/>
        </p:nvSpPr>
        <p:spPr>
          <a:xfrm>
            <a:off x="7479792" y="2743200"/>
            <a:ext cx="3977639" cy="502920"/>
          </a:xfrm>
          <a:prstGeom prst="rect">
            <a:avLst/>
          </a:prstGeom>
          <a:noFill/>
        </p:spPr>
        <p:txBody>
          <a:bodyPr wrap="square" anchor="t"/>
          <a:lstStyle/>
          <a:p>
            <a:pPr algn="l"/>
            <a:r>
              <a:rPr sz="1200" b="0">
                <a:solidFill>
                  <a:srgbClr val="CBD5E1"/>
                </a:solidFill>
                <a:latin typeface="Calibri"/>
              </a:rPr>
              <a:t>Unstructured phone calls, paper logs, and unverified radio reports.</a:t>
            </a:r>
          </a:p>
        </p:txBody>
      </p:sp>
      <p:sp>
        <p:nvSpPr>
          <p:cNvPr id="32" name="Rounded Rectangle 31"/>
          <p:cNvSpPr/>
          <p:nvPr/>
        </p:nvSpPr>
        <p:spPr>
          <a:xfrm>
            <a:off x="7315200" y="3584448"/>
            <a:ext cx="4297680" cy="1417320"/>
          </a:xfrm>
          <a:prstGeom prst="roundRect">
            <a:avLst>
              <a:gd name="adj" fmla="val 8000"/>
            </a:avLst>
          </a:prstGeom>
          <a:solidFill>
            <a:srgbClr val="0E2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79792" y="3694176"/>
            <a:ext cx="3977639" cy="219456"/>
          </a:xfrm>
          <a:prstGeom prst="rect">
            <a:avLst/>
          </a:prstGeom>
          <a:noFill/>
        </p:spPr>
        <p:txBody>
          <a:bodyPr wrap="square" anchor="t"/>
          <a:lstStyle/>
          <a:p>
            <a:pPr algn="l"/>
            <a:r>
              <a:rPr sz="1000" b="1">
                <a:solidFill>
                  <a:srgbClr val="22D3EE"/>
                </a:solidFill>
                <a:latin typeface="Calibri"/>
              </a:rPr>
              <a:t>WITH FENDER AI PIPELINE</a:t>
            </a:r>
          </a:p>
        </p:txBody>
      </p:sp>
      <p:sp>
        <p:nvSpPr>
          <p:cNvPr id="34" name="TextBox 33"/>
          <p:cNvSpPr txBox="1"/>
          <p:nvPr/>
        </p:nvSpPr>
        <p:spPr>
          <a:xfrm>
            <a:off x="7479792" y="3931920"/>
            <a:ext cx="3977639" cy="365760"/>
          </a:xfrm>
          <a:prstGeom prst="rect">
            <a:avLst/>
          </a:prstGeom>
          <a:noFill/>
        </p:spPr>
        <p:txBody>
          <a:bodyPr wrap="square" anchor="t"/>
          <a:lstStyle/>
          <a:p>
            <a:pPr algn="l"/>
            <a:r>
              <a:rPr sz="1400" b="1">
                <a:solidFill>
                  <a:srgbClr val="F8FAFC"/>
                </a:solidFill>
                <a:latin typeface="Calibri"/>
              </a:rPr>
              <a:t>Photo + GPS  →  &lt; 3 seconds  →  Auto-triage</a:t>
            </a:r>
          </a:p>
        </p:txBody>
      </p:sp>
      <p:sp>
        <p:nvSpPr>
          <p:cNvPr id="35" name="TextBox 34"/>
          <p:cNvSpPr txBox="1"/>
          <p:nvPr/>
        </p:nvSpPr>
        <p:spPr>
          <a:xfrm>
            <a:off x="7479792" y="4315968"/>
            <a:ext cx="3977639" cy="502920"/>
          </a:xfrm>
          <a:prstGeom prst="rect">
            <a:avLst/>
          </a:prstGeom>
          <a:noFill/>
        </p:spPr>
        <p:txBody>
          <a:bodyPr wrap="square" anchor="t"/>
          <a:lstStyle/>
          <a:p>
            <a:pPr algn="l"/>
            <a:r>
              <a:rPr sz="1200" b="0">
                <a:solidFill>
                  <a:srgbClr val="CBD5E1"/>
                </a:solidFill>
                <a:latin typeface="Calibri"/>
              </a:rPr>
              <a:t>Vision scoring, spatial clustering, and autonomous ward escalation.</a:t>
            </a:r>
          </a:p>
        </p:txBody>
      </p:sp>
      <p:sp>
        <p:nvSpPr>
          <p:cNvPr id="36" name="TextBox 35"/>
          <p:cNvSpPr txBox="1"/>
          <p:nvPr/>
        </p:nvSpPr>
        <p:spPr>
          <a:xfrm>
            <a:off x="7315200" y="5166360"/>
            <a:ext cx="4297680" cy="868680"/>
          </a:xfrm>
          <a:prstGeom prst="rect">
            <a:avLst/>
          </a:prstGeom>
          <a:noFill/>
        </p:spPr>
        <p:txBody>
          <a:bodyPr wrap="square" anchor="t"/>
          <a:lstStyle/>
          <a:p>
            <a:pPr algn="l"/>
            <a:r>
              <a:rPr sz="1200" b="0">
                <a:solidFill>
                  <a:srgbClr val="CBD5E1"/>
                </a:solidFill>
                <a:latin typeface="Calibri"/>
              </a:rPr>
              <a:t>“In a flood, a 15-minute verification delay is the difference between safe evacuation and stranded casualties.”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01968"/>
            <a:ext cx="12191695" cy="256032"/>
          </a:xfrm>
          <a:prstGeom prst="rect">
            <a:avLst/>
          </a:prstGeom>
          <a:solidFill>
            <a:srgbClr val="080E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11338560" cy="256032"/>
          </a:xfrm>
          <a:prstGeom prst="rect">
            <a:avLst/>
          </a:prstGeom>
          <a:noFill/>
        </p:spPr>
        <p:txBody>
          <a:bodyPr wrap="square" anchor="t"/>
          <a:lstStyle/>
          <a:p>
            <a:pPr algn="l"/>
            <a:r>
              <a:rPr sz="1100" b="1">
                <a:solidFill>
                  <a:srgbClr val="22D3EE"/>
                </a:solidFill>
                <a:latin typeface="Calibri"/>
              </a:rPr>
              <a:t>THE FENDER ECOSYSTEM</a:t>
            </a:r>
          </a:p>
        </p:txBody>
      </p:sp>
      <p:sp>
        <p:nvSpPr>
          <p:cNvPr id="5" name="TextBox 4"/>
          <p:cNvSpPr txBox="1"/>
          <p:nvPr/>
        </p:nvSpPr>
        <p:spPr>
          <a:xfrm>
            <a:off x="411480" y="384048"/>
            <a:ext cx="11338560" cy="438912"/>
          </a:xfrm>
          <a:prstGeom prst="rect">
            <a:avLst/>
          </a:prstGeom>
          <a:noFill/>
        </p:spPr>
        <p:txBody>
          <a:bodyPr wrap="square" anchor="t"/>
          <a:lstStyle/>
          <a:p>
            <a:pPr algn="l"/>
            <a:r>
              <a:rPr sz="2600" b="1">
                <a:solidFill>
                  <a:srgbClr val="F8FAFC"/>
                </a:solidFill>
                <a:latin typeface="Calibri"/>
              </a:rPr>
              <a:t>One Unified Platform. Zero Information Silos.</a:t>
            </a:r>
          </a:p>
        </p:txBody>
      </p:sp>
      <p:sp>
        <p:nvSpPr>
          <p:cNvPr id="6" name="TextBox 5"/>
          <p:cNvSpPr txBox="1"/>
          <p:nvPr/>
        </p:nvSpPr>
        <p:spPr>
          <a:xfrm>
            <a:off x="411480" y="804672"/>
            <a:ext cx="11338560" cy="292608"/>
          </a:xfrm>
          <a:prstGeom prst="rect">
            <a:avLst/>
          </a:prstGeom>
          <a:noFill/>
        </p:spPr>
        <p:txBody>
          <a:bodyPr wrap="square" anchor="t"/>
          <a:lstStyle/>
          <a:p>
            <a:pPr algn="l"/>
            <a:r>
              <a:rPr sz="1300" b="0">
                <a:solidFill>
                  <a:srgbClr val="94A3B8"/>
                </a:solidFill>
                <a:latin typeface="Calibri"/>
              </a:rPr>
              <a:t>Citizens, command, field units, and relief camps — synchronized in real time</a:t>
            </a:r>
          </a:p>
        </p:txBody>
      </p:sp>
      <p:sp>
        <p:nvSpPr>
          <p:cNvPr id="7" name="TextBox 6"/>
          <p:cNvSpPr txBox="1"/>
          <p:nvPr/>
        </p:nvSpPr>
        <p:spPr>
          <a:xfrm>
            <a:off x="365760" y="6620256"/>
            <a:ext cx="5486400" cy="219456"/>
          </a:xfrm>
          <a:prstGeom prst="rect">
            <a:avLst/>
          </a:prstGeom>
          <a:noFill/>
        </p:spPr>
        <p:txBody>
          <a:bodyPr wrap="square" anchor="t"/>
          <a:lstStyle/>
          <a:p>
            <a:pPr algn="l"/>
            <a:r>
              <a:rPr sz="900" b="0">
                <a:solidFill>
                  <a:srgbClr val="94A3B8"/>
                </a:solidFill>
                <a:latin typeface="Calibri"/>
              </a:rPr>
              <a:t>FENDER  ·  CodeArena '26  ·  Topic 04: Disaster Response</a:t>
            </a:r>
          </a:p>
        </p:txBody>
      </p:sp>
      <p:sp>
        <p:nvSpPr>
          <p:cNvPr id="8" name="TextBox 7"/>
          <p:cNvSpPr txBox="1"/>
          <p:nvPr/>
        </p:nvSpPr>
        <p:spPr>
          <a:xfrm>
            <a:off x="9692640" y="6620256"/>
            <a:ext cx="2103120" cy="219456"/>
          </a:xfrm>
          <a:prstGeom prst="rect">
            <a:avLst/>
          </a:prstGeom>
          <a:noFill/>
        </p:spPr>
        <p:txBody>
          <a:bodyPr wrap="square" anchor="t"/>
          <a:lstStyle/>
          <a:p>
            <a:pPr algn="r"/>
            <a:r>
              <a:rPr sz="900" b="0">
                <a:solidFill>
                  <a:srgbClr val="94A3B8"/>
                </a:solidFill>
                <a:latin typeface="Calibri"/>
              </a:rPr>
              <a:t>3  /  10</a:t>
            </a:r>
          </a:p>
        </p:txBody>
      </p:sp>
      <p:sp>
        <p:nvSpPr>
          <p:cNvPr id="9" name="Rounded Rectangle 8"/>
          <p:cNvSpPr/>
          <p:nvPr/>
        </p:nvSpPr>
        <p:spPr>
          <a:xfrm>
            <a:off x="347472" y="1243584"/>
            <a:ext cx="2834640" cy="4160520"/>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7472" y="1243584"/>
            <a:ext cx="2834640"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 y="1426464"/>
            <a:ext cx="2542032" cy="256032"/>
          </a:xfrm>
          <a:prstGeom prst="rect">
            <a:avLst/>
          </a:prstGeom>
          <a:noFill/>
        </p:spPr>
        <p:txBody>
          <a:bodyPr wrap="square" anchor="t"/>
          <a:lstStyle/>
          <a:p>
            <a:pPr algn="l"/>
            <a:r>
              <a:rPr sz="1000" b="1">
                <a:solidFill>
                  <a:srgbClr val="3B82F6"/>
                </a:solidFill>
                <a:latin typeface="Calibri"/>
              </a:rPr>
              <a:t>PORTAL 1  ·  FRONTLINE</a:t>
            </a:r>
          </a:p>
        </p:txBody>
      </p:sp>
      <p:sp>
        <p:nvSpPr>
          <p:cNvPr id="12" name="TextBox 11"/>
          <p:cNvSpPr txBox="1"/>
          <p:nvPr/>
        </p:nvSpPr>
        <p:spPr>
          <a:xfrm>
            <a:off x="493776" y="1700784"/>
            <a:ext cx="2542032" cy="502920"/>
          </a:xfrm>
          <a:prstGeom prst="rect">
            <a:avLst/>
          </a:prstGeom>
          <a:noFill/>
        </p:spPr>
        <p:txBody>
          <a:bodyPr wrap="square" anchor="t"/>
          <a:lstStyle/>
          <a:p>
            <a:pPr algn="l"/>
            <a:r>
              <a:rPr sz="1800" b="1">
                <a:solidFill>
                  <a:srgbClr val="F8FAFC"/>
                </a:solidFill>
                <a:latin typeface="Calibri"/>
              </a:rPr>
              <a:t>Citizen Lifeline PWA</a:t>
            </a:r>
          </a:p>
        </p:txBody>
      </p:sp>
      <p:sp>
        <p:nvSpPr>
          <p:cNvPr id="13" name="TextBox 12"/>
          <p:cNvSpPr txBox="1"/>
          <p:nvPr/>
        </p:nvSpPr>
        <p:spPr>
          <a:xfrm>
            <a:off x="493776" y="2286000"/>
            <a:ext cx="2542032" cy="475488"/>
          </a:xfrm>
          <a:prstGeom prst="rect">
            <a:avLst/>
          </a:prstGeom>
          <a:noFill/>
        </p:spPr>
        <p:txBody>
          <a:bodyPr wrap="square" anchor="t"/>
          <a:lstStyle/>
          <a:p>
            <a:pPr algn="l"/>
            <a:r>
              <a:rPr sz="1300" b="0">
                <a:solidFill>
                  <a:srgbClr val="CBD5E1"/>
                </a:solidFill>
                <a:latin typeface="Calibri"/>
              </a:rPr>
              <a:t>▸  Trilingual: English, Sinhala, Tamil</a:t>
            </a:r>
          </a:p>
        </p:txBody>
      </p:sp>
      <p:sp>
        <p:nvSpPr>
          <p:cNvPr id="14" name="TextBox 13"/>
          <p:cNvSpPr txBox="1"/>
          <p:nvPr/>
        </p:nvSpPr>
        <p:spPr>
          <a:xfrm>
            <a:off x="493776" y="2816352"/>
            <a:ext cx="2542032" cy="475488"/>
          </a:xfrm>
          <a:prstGeom prst="rect">
            <a:avLst/>
          </a:prstGeom>
          <a:noFill/>
        </p:spPr>
        <p:txBody>
          <a:bodyPr wrap="square" anchor="t"/>
          <a:lstStyle/>
          <a:p>
            <a:pPr algn="l"/>
            <a:r>
              <a:rPr sz="1300" b="0">
                <a:solidFill>
                  <a:srgbClr val="CBD5E1"/>
                </a:solidFill>
                <a:latin typeface="Calibri"/>
              </a:rPr>
              <a:t>▸  One-tap geotagged camera report</a:t>
            </a:r>
          </a:p>
        </p:txBody>
      </p:sp>
      <p:sp>
        <p:nvSpPr>
          <p:cNvPr id="15" name="TextBox 14"/>
          <p:cNvSpPr txBox="1"/>
          <p:nvPr/>
        </p:nvSpPr>
        <p:spPr>
          <a:xfrm>
            <a:off x="493776" y="3346704"/>
            <a:ext cx="2542032" cy="475488"/>
          </a:xfrm>
          <a:prstGeom prst="rect">
            <a:avLst/>
          </a:prstGeom>
          <a:noFill/>
        </p:spPr>
        <p:txBody>
          <a:bodyPr wrap="square" anchor="t"/>
          <a:lstStyle/>
          <a:p>
            <a:pPr algn="l"/>
            <a:r>
              <a:rPr sz="1300" b="0">
                <a:solidFill>
                  <a:srgbClr val="CBD5E1"/>
                </a:solidFill>
                <a:latin typeface="Calibri"/>
              </a:rPr>
              <a:t>▸  Live 5-check AI verdict modal</a:t>
            </a:r>
          </a:p>
        </p:txBody>
      </p:sp>
      <p:sp>
        <p:nvSpPr>
          <p:cNvPr id="16" name="TextBox 15"/>
          <p:cNvSpPr txBox="1"/>
          <p:nvPr/>
        </p:nvSpPr>
        <p:spPr>
          <a:xfrm>
            <a:off x="493776" y="3877056"/>
            <a:ext cx="2542032" cy="475488"/>
          </a:xfrm>
          <a:prstGeom prst="rect">
            <a:avLst/>
          </a:prstGeom>
          <a:noFill/>
        </p:spPr>
        <p:txBody>
          <a:bodyPr wrap="square" anchor="t"/>
          <a:lstStyle/>
          <a:p>
            <a:pPr algn="l"/>
            <a:r>
              <a:rPr sz="1300" b="0">
                <a:solidFill>
                  <a:srgbClr val="CBD5E1"/>
                </a:solidFill>
                <a:latin typeface="Calibri"/>
              </a:rPr>
              <a:t>▸  Offline QR SOS + 117 / 1990 dialer</a:t>
            </a:r>
          </a:p>
        </p:txBody>
      </p:sp>
      <p:sp>
        <p:nvSpPr>
          <p:cNvPr id="17" name="TextBox 16"/>
          <p:cNvSpPr txBox="1"/>
          <p:nvPr/>
        </p:nvSpPr>
        <p:spPr>
          <a:xfrm>
            <a:off x="493776" y="4983480"/>
            <a:ext cx="2542032" cy="256032"/>
          </a:xfrm>
          <a:prstGeom prst="rect">
            <a:avLst/>
          </a:prstGeom>
          <a:noFill/>
        </p:spPr>
        <p:txBody>
          <a:bodyPr wrap="square" anchor="t"/>
          <a:lstStyle/>
          <a:p>
            <a:pPr algn="l"/>
            <a:r>
              <a:rPr sz="1100" b="1">
                <a:solidFill>
                  <a:srgbClr val="22D3EE"/>
                </a:solidFill>
                <a:latin typeface="Calibri"/>
              </a:rPr>
              <a:t>/report  ·  /</a:t>
            </a:r>
          </a:p>
        </p:txBody>
      </p:sp>
      <p:sp>
        <p:nvSpPr>
          <p:cNvPr id="18" name="Rounded Rectangle 17"/>
          <p:cNvSpPr/>
          <p:nvPr/>
        </p:nvSpPr>
        <p:spPr>
          <a:xfrm>
            <a:off x="3310128" y="1243584"/>
            <a:ext cx="2834640" cy="4160520"/>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310128" y="1243584"/>
            <a:ext cx="2834640" cy="73152"/>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56432" y="1426464"/>
            <a:ext cx="2542032" cy="256032"/>
          </a:xfrm>
          <a:prstGeom prst="rect">
            <a:avLst/>
          </a:prstGeom>
          <a:noFill/>
        </p:spPr>
        <p:txBody>
          <a:bodyPr wrap="square" anchor="t"/>
          <a:lstStyle/>
          <a:p>
            <a:pPr algn="l"/>
            <a:r>
              <a:rPr sz="1000" b="1">
                <a:solidFill>
                  <a:srgbClr val="22D3EE"/>
                </a:solidFill>
                <a:latin typeface="Calibri"/>
              </a:rPr>
              <a:t>PORTAL 2  ·  MUNICIPAL HQ</a:t>
            </a:r>
          </a:p>
        </p:txBody>
      </p:sp>
      <p:sp>
        <p:nvSpPr>
          <p:cNvPr id="21" name="TextBox 20"/>
          <p:cNvSpPr txBox="1"/>
          <p:nvPr/>
        </p:nvSpPr>
        <p:spPr>
          <a:xfrm>
            <a:off x="3456432" y="1700784"/>
            <a:ext cx="2542032" cy="502920"/>
          </a:xfrm>
          <a:prstGeom prst="rect">
            <a:avLst/>
          </a:prstGeom>
          <a:noFill/>
        </p:spPr>
        <p:txBody>
          <a:bodyPr wrap="square" anchor="t"/>
          <a:lstStyle/>
          <a:p>
            <a:pPr algn="l"/>
            <a:r>
              <a:rPr sz="1800" b="1">
                <a:solidFill>
                  <a:srgbClr val="F8FAFC"/>
                </a:solidFill>
                <a:latin typeface="Calibri"/>
              </a:rPr>
              <a:t>Command Console</a:t>
            </a:r>
          </a:p>
        </p:txBody>
      </p:sp>
      <p:sp>
        <p:nvSpPr>
          <p:cNvPr id="22" name="TextBox 21"/>
          <p:cNvSpPr txBox="1"/>
          <p:nvPr/>
        </p:nvSpPr>
        <p:spPr>
          <a:xfrm>
            <a:off x="3456432" y="2286000"/>
            <a:ext cx="2542032" cy="475488"/>
          </a:xfrm>
          <a:prstGeom prst="rect">
            <a:avLst/>
          </a:prstGeom>
          <a:noFill/>
        </p:spPr>
        <p:txBody>
          <a:bodyPr wrap="square" anchor="t"/>
          <a:lstStyle/>
          <a:p>
            <a:pPr algn="l"/>
            <a:r>
              <a:rPr sz="1300" b="0">
                <a:solidFill>
                  <a:srgbClr val="CBD5E1"/>
                </a:solidFill>
                <a:latin typeface="Calibri"/>
              </a:rPr>
              <a:t>▸  Live incident triage queue</a:t>
            </a:r>
          </a:p>
        </p:txBody>
      </p:sp>
      <p:sp>
        <p:nvSpPr>
          <p:cNvPr id="23" name="TextBox 22"/>
          <p:cNvSpPr txBox="1"/>
          <p:nvPr/>
        </p:nvSpPr>
        <p:spPr>
          <a:xfrm>
            <a:off x="3456432" y="2816352"/>
            <a:ext cx="2542032" cy="475488"/>
          </a:xfrm>
          <a:prstGeom prst="rect">
            <a:avLst/>
          </a:prstGeom>
          <a:noFill/>
        </p:spPr>
        <p:txBody>
          <a:bodyPr wrap="square" anchor="t"/>
          <a:lstStyle/>
          <a:p>
            <a:pPr algn="l"/>
            <a:r>
              <a:rPr sz="1300" b="0">
                <a:solidFill>
                  <a:srgbClr val="CBD5E1"/>
                </a:solidFill>
                <a:latin typeface="Calibri"/>
              </a:rPr>
              <a:t>▸  PostGIS split-screen spatial sync</a:t>
            </a:r>
          </a:p>
        </p:txBody>
      </p:sp>
      <p:sp>
        <p:nvSpPr>
          <p:cNvPr id="24" name="TextBox 23"/>
          <p:cNvSpPr txBox="1"/>
          <p:nvPr/>
        </p:nvSpPr>
        <p:spPr>
          <a:xfrm>
            <a:off x="3456432" y="3346704"/>
            <a:ext cx="2542032" cy="475488"/>
          </a:xfrm>
          <a:prstGeom prst="rect">
            <a:avLst/>
          </a:prstGeom>
          <a:noFill/>
        </p:spPr>
        <p:txBody>
          <a:bodyPr wrap="square" anchor="t"/>
          <a:lstStyle/>
          <a:p>
            <a:pPr algn="l"/>
            <a:r>
              <a:rPr sz="1300" b="0">
                <a:solidFill>
                  <a:srgbClr val="CBD5E1"/>
                </a:solidFill>
                <a:latin typeface="Calibri"/>
              </a:rPr>
              <a:t>▸  Autonomous river / rainfall triggers</a:t>
            </a:r>
          </a:p>
        </p:txBody>
      </p:sp>
      <p:sp>
        <p:nvSpPr>
          <p:cNvPr id="25" name="TextBox 24"/>
          <p:cNvSpPr txBox="1"/>
          <p:nvPr/>
        </p:nvSpPr>
        <p:spPr>
          <a:xfrm>
            <a:off x="3456432" y="3877056"/>
            <a:ext cx="2542032" cy="475488"/>
          </a:xfrm>
          <a:prstGeom prst="rect">
            <a:avLst/>
          </a:prstGeom>
          <a:noFill/>
        </p:spPr>
        <p:txBody>
          <a:bodyPr wrap="square" anchor="t"/>
          <a:lstStyle/>
          <a:p>
            <a:pPr algn="l"/>
            <a:r>
              <a:rPr sz="1300" b="0">
                <a:solidFill>
                  <a:srgbClr val="CBD5E1"/>
                </a:solidFill>
                <a:latin typeface="Calibri"/>
              </a:rPr>
              <a:t>▸  AI threshold slider + audit trail</a:t>
            </a:r>
          </a:p>
        </p:txBody>
      </p:sp>
      <p:sp>
        <p:nvSpPr>
          <p:cNvPr id="26" name="TextBox 25"/>
          <p:cNvSpPr txBox="1"/>
          <p:nvPr/>
        </p:nvSpPr>
        <p:spPr>
          <a:xfrm>
            <a:off x="3456432" y="4983480"/>
            <a:ext cx="2542032" cy="256032"/>
          </a:xfrm>
          <a:prstGeom prst="rect">
            <a:avLst/>
          </a:prstGeom>
          <a:noFill/>
        </p:spPr>
        <p:txBody>
          <a:bodyPr wrap="square" anchor="t"/>
          <a:lstStyle/>
          <a:p>
            <a:pPr algn="l"/>
            <a:r>
              <a:rPr sz="1100" b="1">
                <a:solidFill>
                  <a:srgbClr val="22D3EE"/>
                </a:solidFill>
                <a:latin typeface="Calibri"/>
              </a:rPr>
              <a:t>/dashboard/officer</a:t>
            </a:r>
          </a:p>
        </p:txBody>
      </p:sp>
      <p:sp>
        <p:nvSpPr>
          <p:cNvPr id="27" name="Rounded Rectangle 26"/>
          <p:cNvSpPr/>
          <p:nvPr/>
        </p:nvSpPr>
        <p:spPr>
          <a:xfrm>
            <a:off x="6272784" y="1243584"/>
            <a:ext cx="2834640" cy="4160520"/>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72784" y="1243584"/>
            <a:ext cx="283464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19088" y="1426464"/>
            <a:ext cx="2542032" cy="256032"/>
          </a:xfrm>
          <a:prstGeom prst="rect">
            <a:avLst/>
          </a:prstGeom>
          <a:noFill/>
        </p:spPr>
        <p:txBody>
          <a:bodyPr wrap="square" anchor="t"/>
          <a:lstStyle/>
          <a:p>
            <a:pPr algn="l"/>
            <a:r>
              <a:rPr sz="1000" b="1">
                <a:solidFill>
                  <a:srgbClr val="F59E0B"/>
                </a:solidFill>
                <a:latin typeface="Calibri"/>
              </a:rPr>
              <a:t>PORTAL 3  ·  FIELD OPS</a:t>
            </a:r>
          </a:p>
        </p:txBody>
      </p:sp>
      <p:sp>
        <p:nvSpPr>
          <p:cNvPr id="30" name="TextBox 29"/>
          <p:cNvSpPr txBox="1"/>
          <p:nvPr/>
        </p:nvSpPr>
        <p:spPr>
          <a:xfrm>
            <a:off x="6419088" y="1700784"/>
            <a:ext cx="2542032" cy="502920"/>
          </a:xfrm>
          <a:prstGeom prst="rect">
            <a:avLst/>
          </a:prstGeom>
          <a:noFill/>
        </p:spPr>
        <p:txBody>
          <a:bodyPr wrap="square" anchor="t"/>
          <a:lstStyle/>
          <a:p>
            <a:pPr algn="l"/>
            <a:r>
              <a:rPr sz="1800" b="1">
                <a:solidFill>
                  <a:srgbClr val="F8FAFC"/>
                </a:solidFill>
                <a:latin typeface="Calibri"/>
              </a:rPr>
              <a:t>Crew Clearance Desk</a:t>
            </a:r>
          </a:p>
        </p:txBody>
      </p:sp>
      <p:sp>
        <p:nvSpPr>
          <p:cNvPr id="31" name="TextBox 30"/>
          <p:cNvSpPr txBox="1"/>
          <p:nvPr/>
        </p:nvSpPr>
        <p:spPr>
          <a:xfrm>
            <a:off x="6419088" y="2286000"/>
            <a:ext cx="2542032" cy="475488"/>
          </a:xfrm>
          <a:prstGeom prst="rect">
            <a:avLst/>
          </a:prstGeom>
          <a:noFill/>
        </p:spPr>
        <p:txBody>
          <a:bodyPr wrap="square" anchor="t"/>
          <a:lstStyle/>
          <a:p>
            <a:pPr algn="l"/>
            <a:r>
              <a:rPr sz="1300" b="0">
                <a:solidFill>
                  <a:srgbClr val="CBD5E1"/>
                </a:solidFill>
                <a:latin typeface="Calibri"/>
              </a:rPr>
              <a:t>▸  Navy, DMC, CMC ticket queue</a:t>
            </a:r>
          </a:p>
        </p:txBody>
      </p:sp>
      <p:sp>
        <p:nvSpPr>
          <p:cNvPr id="32" name="TextBox 31"/>
          <p:cNvSpPr txBox="1"/>
          <p:nvPr/>
        </p:nvSpPr>
        <p:spPr>
          <a:xfrm>
            <a:off x="6419088" y="2816352"/>
            <a:ext cx="2542032" cy="475488"/>
          </a:xfrm>
          <a:prstGeom prst="rect">
            <a:avLst/>
          </a:prstGeom>
          <a:noFill/>
        </p:spPr>
        <p:txBody>
          <a:bodyPr wrap="square" anchor="t"/>
          <a:lstStyle/>
          <a:p>
            <a:pPr algn="l"/>
            <a:r>
              <a:rPr sz="1300" b="0">
                <a:solidFill>
                  <a:srgbClr val="CBD5E1"/>
                </a:solidFill>
                <a:latin typeface="Calibri"/>
              </a:rPr>
              <a:t>▸  One-tap turn-by-turn navigation</a:t>
            </a:r>
          </a:p>
        </p:txBody>
      </p:sp>
      <p:sp>
        <p:nvSpPr>
          <p:cNvPr id="33" name="TextBox 32"/>
          <p:cNvSpPr txBox="1"/>
          <p:nvPr/>
        </p:nvSpPr>
        <p:spPr>
          <a:xfrm>
            <a:off x="6419088" y="3346704"/>
            <a:ext cx="2542032" cy="475488"/>
          </a:xfrm>
          <a:prstGeom prst="rect">
            <a:avLst/>
          </a:prstGeom>
          <a:noFill/>
        </p:spPr>
        <p:txBody>
          <a:bodyPr wrap="square" anchor="t"/>
          <a:lstStyle/>
          <a:p>
            <a:pPr algn="l"/>
            <a:r>
              <a:rPr sz="1300" b="0">
                <a:solidFill>
                  <a:srgbClr val="CBD5E1"/>
                </a:solidFill>
                <a:latin typeface="Calibri"/>
              </a:rPr>
              <a:t>▸  Mandatory after-repair photo</a:t>
            </a:r>
          </a:p>
        </p:txBody>
      </p:sp>
      <p:sp>
        <p:nvSpPr>
          <p:cNvPr id="34" name="TextBox 33"/>
          <p:cNvSpPr txBox="1"/>
          <p:nvPr/>
        </p:nvSpPr>
        <p:spPr>
          <a:xfrm>
            <a:off x="6419088" y="3877056"/>
            <a:ext cx="2542032" cy="475488"/>
          </a:xfrm>
          <a:prstGeom prst="rect">
            <a:avLst/>
          </a:prstGeom>
          <a:noFill/>
        </p:spPr>
        <p:txBody>
          <a:bodyPr wrap="square" anchor="t"/>
          <a:lstStyle/>
          <a:p>
            <a:pPr algn="l"/>
            <a:r>
              <a:rPr sz="1300" b="0">
                <a:solidFill>
                  <a:srgbClr val="CBD5E1"/>
                </a:solidFill>
                <a:latin typeface="Calibri"/>
              </a:rPr>
              <a:t>▸  Instant public-map unblock</a:t>
            </a:r>
          </a:p>
        </p:txBody>
      </p:sp>
      <p:sp>
        <p:nvSpPr>
          <p:cNvPr id="35" name="TextBox 34"/>
          <p:cNvSpPr txBox="1"/>
          <p:nvPr/>
        </p:nvSpPr>
        <p:spPr>
          <a:xfrm>
            <a:off x="6419088" y="4983480"/>
            <a:ext cx="2542032" cy="256032"/>
          </a:xfrm>
          <a:prstGeom prst="rect">
            <a:avLst/>
          </a:prstGeom>
          <a:noFill/>
        </p:spPr>
        <p:txBody>
          <a:bodyPr wrap="square" anchor="t"/>
          <a:lstStyle/>
          <a:p>
            <a:pPr algn="l"/>
            <a:r>
              <a:rPr sz="1100" b="1">
                <a:solidFill>
                  <a:srgbClr val="22D3EE"/>
                </a:solidFill>
                <a:latin typeface="Calibri"/>
              </a:rPr>
              <a:t>/crew</a:t>
            </a:r>
          </a:p>
        </p:txBody>
      </p:sp>
      <p:sp>
        <p:nvSpPr>
          <p:cNvPr id="36" name="Rounded Rectangle 35"/>
          <p:cNvSpPr/>
          <p:nvPr/>
        </p:nvSpPr>
        <p:spPr>
          <a:xfrm>
            <a:off x="9235440" y="1243584"/>
            <a:ext cx="2834640" cy="4160520"/>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235440" y="1243584"/>
            <a:ext cx="283464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381744" y="1426464"/>
            <a:ext cx="2542032" cy="256032"/>
          </a:xfrm>
          <a:prstGeom prst="rect">
            <a:avLst/>
          </a:prstGeom>
          <a:noFill/>
        </p:spPr>
        <p:txBody>
          <a:bodyPr wrap="square" anchor="t"/>
          <a:lstStyle/>
          <a:p>
            <a:pPr algn="l"/>
            <a:r>
              <a:rPr sz="1000" b="1">
                <a:solidFill>
                  <a:srgbClr val="10B981"/>
                </a:solidFill>
                <a:latin typeface="Calibri"/>
              </a:rPr>
              <a:t>PORTAL 4  ·  HUMANITARIAN</a:t>
            </a:r>
          </a:p>
        </p:txBody>
      </p:sp>
      <p:sp>
        <p:nvSpPr>
          <p:cNvPr id="39" name="TextBox 38"/>
          <p:cNvSpPr txBox="1"/>
          <p:nvPr/>
        </p:nvSpPr>
        <p:spPr>
          <a:xfrm>
            <a:off x="9381744" y="1700784"/>
            <a:ext cx="2542032" cy="502920"/>
          </a:xfrm>
          <a:prstGeom prst="rect">
            <a:avLst/>
          </a:prstGeom>
          <a:noFill/>
        </p:spPr>
        <p:txBody>
          <a:bodyPr wrap="square" anchor="t"/>
          <a:lstStyle/>
          <a:p>
            <a:pPr algn="l"/>
            <a:r>
              <a:rPr sz="1800" b="1">
                <a:solidFill>
                  <a:srgbClr val="F8FAFC"/>
                </a:solidFill>
                <a:latin typeface="Calibri"/>
              </a:rPr>
              <a:t>Relief &amp; Safe Registry</a:t>
            </a:r>
          </a:p>
        </p:txBody>
      </p:sp>
      <p:sp>
        <p:nvSpPr>
          <p:cNvPr id="40" name="TextBox 39"/>
          <p:cNvSpPr txBox="1"/>
          <p:nvPr/>
        </p:nvSpPr>
        <p:spPr>
          <a:xfrm>
            <a:off x="9381744" y="2286000"/>
            <a:ext cx="2542032" cy="475488"/>
          </a:xfrm>
          <a:prstGeom prst="rect">
            <a:avLst/>
          </a:prstGeom>
          <a:noFill/>
        </p:spPr>
        <p:txBody>
          <a:bodyPr wrap="square" anchor="t"/>
          <a:lstStyle/>
          <a:p>
            <a:pPr algn="l"/>
            <a:r>
              <a:rPr sz="1300" b="0">
                <a:solidFill>
                  <a:srgbClr val="CBD5E1"/>
                </a:solidFill>
                <a:latin typeface="Calibri"/>
              </a:rPr>
              <a:t>▸  Live shelter bed counters</a:t>
            </a:r>
          </a:p>
        </p:txBody>
      </p:sp>
      <p:sp>
        <p:nvSpPr>
          <p:cNvPr id="41" name="TextBox 40"/>
          <p:cNvSpPr txBox="1"/>
          <p:nvPr/>
        </p:nvSpPr>
        <p:spPr>
          <a:xfrm>
            <a:off x="9381744" y="2816352"/>
            <a:ext cx="2542032" cy="475488"/>
          </a:xfrm>
          <a:prstGeom prst="rect">
            <a:avLst/>
          </a:prstGeom>
          <a:noFill/>
        </p:spPr>
        <p:txBody>
          <a:bodyPr wrap="square" anchor="t"/>
          <a:lstStyle/>
          <a:p>
            <a:pPr algn="l"/>
            <a:r>
              <a:rPr sz="1300" b="0">
                <a:solidFill>
                  <a:srgbClr val="CBD5E1"/>
                </a:solidFill>
                <a:latin typeface="Calibri"/>
              </a:rPr>
              <a:t>▸  I'm Safe family search</a:t>
            </a:r>
          </a:p>
        </p:txBody>
      </p:sp>
      <p:sp>
        <p:nvSpPr>
          <p:cNvPr id="42" name="TextBox 41"/>
          <p:cNvSpPr txBox="1"/>
          <p:nvPr/>
        </p:nvSpPr>
        <p:spPr>
          <a:xfrm>
            <a:off x="9381744" y="3346704"/>
            <a:ext cx="2542032" cy="475488"/>
          </a:xfrm>
          <a:prstGeom prst="rect">
            <a:avLst/>
          </a:prstGeom>
          <a:noFill/>
        </p:spPr>
        <p:txBody>
          <a:bodyPr wrap="square" anchor="t"/>
          <a:lstStyle/>
          <a:p>
            <a:pPr algn="l"/>
            <a:r>
              <a:rPr sz="1300" b="0">
                <a:solidFill>
                  <a:srgbClr val="CBD5E1"/>
                </a:solidFill>
                <a:latin typeface="Calibri"/>
              </a:rPr>
              <a:t>▸  Missing persons NIC lookup</a:t>
            </a:r>
          </a:p>
        </p:txBody>
      </p:sp>
      <p:sp>
        <p:nvSpPr>
          <p:cNvPr id="43" name="TextBox 42"/>
          <p:cNvSpPr txBox="1"/>
          <p:nvPr/>
        </p:nvSpPr>
        <p:spPr>
          <a:xfrm>
            <a:off x="9381744" y="3877056"/>
            <a:ext cx="2542032" cy="475488"/>
          </a:xfrm>
          <a:prstGeom prst="rect">
            <a:avLst/>
          </a:prstGeom>
          <a:noFill/>
        </p:spPr>
        <p:txBody>
          <a:bodyPr wrap="square" anchor="t"/>
          <a:lstStyle/>
          <a:p>
            <a:pPr algn="l"/>
            <a:r>
              <a:rPr sz="1300" b="0">
                <a:solidFill>
                  <a:srgbClr val="CBD5E1"/>
                </a:solidFill>
                <a:latin typeface="Calibri"/>
              </a:rPr>
              <a:t>▸  Medical / infant aid matching</a:t>
            </a:r>
          </a:p>
        </p:txBody>
      </p:sp>
      <p:sp>
        <p:nvSpPr>
          <p:cNvPr id="44" name="TextBox 43"/>
          <p:cNvSpPr txBox="1"/>
          <p:nvPr/>
        </p:nvSpPr>
        <p:spPr>
          <a:xfrm>
            <a:off x="9381744" y="4983480"/>
            <a:ext cx="2542032" cy="256032"/>
          </a:xfrm>
          <a:prstGeom prst="rect">
            <a:avLst/>
          </a:prstGeom>
          <a:noFill/>
        </p:spPr>
        <p:txBody>
          <a:bodyPr wrap="square" anchor="t"/>
          <a:lstStyle/>
          <a:p>
            <a:pPr algn="l"/>
            <a:r>
              <a:rPr sz="1100" b="1">
                <a:solidFill>
                  <a:srgbClr val="22D3EE"/>
                </a:solidFill>
                <a:latin typeface="Calibri"/>
              </a:rPr>
              <a:t>/safe  ·  /relief</a:t>
            </a:r>
          </a:p>
        </p:txBody>
      </p:sp>
      <p:sp>
        <p:nvSpPr>
          <p:cNvPr id="45" name="Rounded Rectangle 44"/>
          <p:cNvSpPr/>
          <p:nvPr/>
        </p:nvSpPr>
        <p:spPr>
          <a:xfrm>
            <a:off x="347472" y="5532120"/>
            <a:ext cx="11484864" cy="868680"/>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30352" y="5632704"/>
            <a:ext cx="7680960" cy="256032"/>
          </a:xfrm>
          <a:prstGeom prst="rect">
            <a:avLst/>
          </a:prstGeom>
          <a:noFill/>
        </p:spPr>
        <p:txBody>
          <a:bodyPr wrap="square" anchor="t"/>
          <a:lstStyle/>
          <a:p>
            <a:pPr algn="l"/>
            <a:r>
              <a:rPr sz="1100" b="1">
                <a:solidFill>
                  <a:srgbClr val="22D3EE"/>
                </a:solidFill>
                <a:latin typeface="Calibri"/>
              </a:rPr>
              <a:t>UNIFIED REALTIME DATA FABRIC</a:t>
            </a:r>
          </a:p>
        </p:txBody>
      </p:sp>
      <p:sp>
        <p:nvSpPr>
          <p:cNvPr id="47" name="TextBox 46"/>
          <p:cNvSpPr txBox="1"/>
          <p:nvPr/>
        </p:nvSpPr>
        <p:spPr>
          <a:xfrm>
            <a:off x="530352" y="5907024"/>
            <a:ext cx="7680960" cy="347472"/>
          </a:xfrm>
          <a:prstGeom prst="rect">
            <a:avLst/>
          </a:prstGeom>
          <a:noFill/>
        </p:spPr>
        <p:txBody>
          <a:bodyPr wrap="square" anchor="t"/>
          <a:lstStyle/>
          <a:p>
            <a:pPr algn="l"/>
            <a:r>
              <a:rPr sz="1400" b="1">
                <a:solidFill>
                  <a:srgbClr val="F8FAFC"/>
                </a:solidFill>
                <a:latin typeface="Calibri"/>
              </a:rPr>
              <a:t>Supabase PostGIS  +  WebSocket subscriptions  +  Edge replication</a:t>
            </a:r>
          </a:p>
        </p:txBody>
      </p:sp>
      <p:sp>
        <p:nvSpPr>
          <p:cNvPr id="48" name="TextBox 47"/>
          <p:cNvSpPr txBox="1"/>
          <p:nvPr/>
        </p:nvSpPr>
        <p:spPr>
          <a:xfrm>
            <a:off x="8046720" y="5760720"/>
            <a:ext cx="3566160" cy="457200"/>
          </a:xfrm>
          <a:prstGeom prst="rect">
            <a:avLst/>
          </a:prstGeom>
          <a:noFill/>
        </p:spPr>
        <p:txBody>
          <a:bodyPr wrap="square" anchor="t"/>
          <a:lstStyle/>
          <a:p>
            <a:pPr algn="r"/>
            <a:r>
              <a:rPr sz="1300" b="0">
                <a:solidFill>
                  <a:srgbClr val="CBD5E1"/>
                </a:solidFill>
                <a:latin typeface="Calibri"/>
              </a:rPr>
              <a:t>Every action reflects across
all 4 screens in &lt; 200ms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01968"/>
            <a:ext cx="12191695" cy="256032"/>
          </a:xfrm>
          <a:prstGeom prst="rect">
            <a:avLst/>
          </a:prstGeom>
          <a:solidFill>
            <a:srgbClr val="080E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11338560" cy="256032"/>
          </a:xfrm>
          <a:prstGeom prst="rect">
            <a:avLst/>
          </a:prstGeom>
          <a:noFill/>
        </p:spPr>
        <p:txBody>
          <a:bodyPr wrap="square" anchor="t"/>
          <a:lstStyle/>
          <a:p>
            <a:pPr algn="l"/>
            <a:r>
              <a:rPr sz="1100" b="1">
                <a:solidFill>
                  <a:srgbClr val="22D3EE"/>
                </a:solidFill>
                <a:latin typeface="Calibri"/>
              </a:rPr>
              <a:t>THE SECRET SAUCE</a:t>
            </a:r>
          </a:p>
        </p:txBody>
      </p:sp>
      <p:sp>
        <p:nvSpPr>
          <p:cNvPr id="5" name="TextBox 4"/>
          <p:cNvSpPr txBox="1"/>
          <p:nvPr/>
        </p:nvSpPr>
        <p:spPr>
          <a:xfrm>
            <a:off x="411480" y="384048"/>
            <a:ext cx="11338560" cy="438912"/>
          </a:xfrm>
          <a:prstGeom prst="rect">
            <a:avLst/>
          </a:prstGeom>
          <a:noFill/>
        </p:spPr>
        <p:txBody>
          <a:bodyPr wrap="square" anchor="t"/>
          <a:lstStyle/>
          <a:p>
            <a:pPr algn="l"/>
            <a:r>
              <a:rPr sz="2600" b="1">
                <a:solidFill>
                  <a:srgbClr val="F8FAFC"/>
                </a:solidFill>
                <a:latin typeface="Calibri"/>
              </a:rPr>
              <a:t>The Multi-Modal 5-Check AI Engine</a:t>
            </a:r>
          </a:p>
        </p:txBody>
      </p:sp>
      <p:sp>
        <p:nvSpPr>
          <p:cNvPr id="6" name="TextBox 5"/>
          <p:cNvSpPr txBox="1"/>
          <p:nvPr/>
        </p:nvSpPr>
        <p:spPr>
          <a:xfrm>
            <a:off x="411480" y="804672"/>
            <a:ext cx="11338560" cy="292608"/>
          </a:xfrm>
          <a:prstGeom prst="rect">
            <a:avLst/>
          </a:prstGeom>
          <a:noFill/>
        </p:spPr>
        <p:txBody>
          <a:bodyPr wrap="square" anchor="t"/>
          <a:lstStyle/>
          <a:p>
            <a:pPr algn="l"/>
            <a:r>
              <a:rPr sz="1300" b="0">
                <a:solidFill>
                  <a:srgbClr val="94A3B8"/>
                </a:solidFill>
                <a:latin typeface="Calibri"/>
              </a:rPr>
              <a:t>How Fender scores hazard credibility and severity in under 3 seconds</a:t>
            </a:r>
          </a:p>
        </p:txBody>
      </p:sp>
      <p:sp>
        <p:nvSpPr>
          <p:cNvPr id="7" name="TextBox 6"/>
          <p:cNvSpPr txBox="1"/>
          <p:nvPr/>
        </p:nvSpPr>
        <p:spPr>
          <a:xfrm>
            <a:off x="365760" y="6620256"/>
            <a:ext cx="5486400" cy="219456"/>
          </a:xfrm>
          <a:prstGeom prst="rect">
            <a:avLst/>
          </a:prstGeom>
          <a:noFill/>
        </p:spPr>
        <p:txBody>
          <a:bodyPr wrap="square" anchor="t"/>
          <a:lstStyle/>
          <a:p>
            <a:pPr algn="l"/>
            <a:r>
              <a:rPr sz="900" b="0">
                <a:solidFill>
                  <a:srgbClr val="94A3B8"/>
                </a:solidFill>
                <a:latin typeface="Calibri"/>
              </a:rPr>
              <a:t>FENDER  ·  CodeArena '26  ·  Topic 04: Disaster Response</a:t>
            </a:r>
          </a:p>
        </p:txBody>
      </p:sp>
      <p:sp>
        <p:nvSpPr>
          <p:cNvPr id="8" name="TextBox 7"/>
          <p:cNvSpPr txBox="1"/>
          <p:nvPr/>
        </p:nvSpPr>
        <p:spPr>
          <a:xfrm>
            <a:off x="9692640" y="6620256"/>
            <a:ext cx="2103120" cy="219456"/>
          </a:xfrm>
          <a:prstGeom prst="rect">
            <a:avLst/>
          </a:prstGeom>
          <a:noFill/>
        </p:spPr>
        <p:txBody>
          <a:bodyPr wrap="square" anchor="t"/>
          <a:lstStyle/>
          <a:p>
            <a:pPr algn="r"/>
            <a:r>
              <a:rPr sz="900" b="0">
                <a:solidFill>
                  <a:srgbClr val="94A3B8"/>
                </a:solidFill>
                <a:latin typeface="Calibri"/>
              </a:rPr>
              <a:t>4  /  10</a:t>
            </a:r>
          </a:p>
        </p:txBody>
      </p:sp>
      <p:sp>
        <p:nvSpPr>
          <p:cNvPr id="9" name="Rounded Rectangle 8"/>
          <p:cNvSpPr/>
          <p:nvPr/>
        </p:nvSpPr>
        <p:spPr>
          <a:xfrm>
            <a:off x="292608" y="1261872"/>
            <a:ext cx="2267712" cy="3703320"/>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8912" y="1426464"/>
            <a:ext cx="438912" cy="365760"/>
          </a:xfrm>
          <a:prstGeom prst="roundRect">
            <a:avLst>
              <a:gd name="adj" fmla="val 25000"/>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8FAFC"/>
                </a:solidFill>
                <a:latin typeface="Calibri"/>
              </a:rPr>
              <a:t>01</a:t>
            </a:r>
          </a:p>
        </p:txBody>
      </p:sp>
      <p:sp>
        <p:nvSpPr>
          <p:cNvPr id="11" name="TextBox 10"/>
          <p:cNvSpPr txBox="1"/>
          <p:nvPr/>
        </p:nvSpPr>
        <p:spPr>
          <a:xfrm>
            <a:off x="438912" y="1920240"/>
            <a:ext cx="1975104" cy="640080"/>
          </a:xfrm>
          <a:prstGeom prst="rect">
            <a:avLst/>
          </a:prstGeom>
          <a:noFill/>
        </p:spPr>
        <p:txBody>
          <a:bodyPr wrap="square" anchor="t"/>
          <a:lstStyle/>
          <a:p>
            <a:pPr algn="l"/>
            <a:r>
              <a:rPr sz="1500" b="1">
                <a:solidFill>
                  <a:srgbClr val="F8FAFC"/>
                </a:solidFill>
                <a:latin typeface="Calibri"/>
              </a:rPr>
              <a:t>Input &amp; Multilingual AI</a:t>
            </a:r>
          </a:p>
        </p:txBody>
      </p:sp>
      <p:sp>
        <p:nvSpPr>
          <p:cNvPr id="12" name="TextBox 11"/>
          <p:cNvSpPr txBox="1"/>
          <p:nvPr/>
        </p:nvSpPr>
        <p:spPr>
          <a:xfrm>
            <a:off x="438912" y="2578608"/>
            <a:ext cx="1975104" cy="1554480"/>
          </a:xfrm>
          <a:prstGeom prst="rect">
            <a:avLst/>
          </a:prstGeom>
          <a:noFill/>
        </p:spPr>
        <p:txBody>
          <a:bodyPr wrap="square" anchor="t"/>
          <a:lstStyle/>
          <a:p>
            <a:pPr algn="l"/>
            <a:r>
              <a:rPr sz="1200" b="0">
                <a:solidFill>
                  <a:srgbClr val="CBD5E1"/>
                </a:solidFill>
                <a:latin typeface="Calibri"/>
              </a:rPr>
              <a:t>Sanitizes Sinhala / Tamil / English. Flags distress terms like “elderly trapped” and “water rising fast”.</a:t>
            </a:r>
          </a:p>
        </p:txBody>
      </p:sp>
      <p:sp>
        <p:nvSpPr>
          <p:cNvPr id="13" name="TextBox 12"/>
          <p:cNvSpPr txBox="1"/>
          <p:nvPr/>
        </p:nvSpPr>
        <p:spPr>
          <a:xfrm>
            <a:off x="438912" y="4434840"/>
            <a:ext cx="1975104" cy="329184"/>
          </a:xfrm>
          <a:prstGeom prst="rect">
            <a:avLst/>
          </a:prstGeom>
          <a:noFill/>
        </p:spPr>
        <p:txBody>
          <a:bodyPr wrap="square" anchor="t"/>
          <a:lstStyle/>
          <a:p>
            <a:pPr algn="l"/>
            <a:r>
              <a:rPr sz="1200" b="1">
                <a:solidFill>
                  <a:srgbClr val="3B82F6"/>
                </a:solidFill>
                <a:latin typeface="Calibri"/>
              </a:rPr>
              <a:t>WEIGHT  15%</a:t>
            </a:r>
          </a:p>
        </p:txBody>
      </p:sp>
      <p:sp>
        <p:nvSpPr>
          <p:cNvPr id="14" name="Rounded Rectangle 13"/>
          <p:cNvSpPr/>
          <p:nvPr/>
        </p:nvSpPr>
        <p:spPr>
          <a:xfrm>
            <a:off x="2670048" y="1261872"/>
            <a:ext cx="2267712" cy="3703320"/>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816352" y="1426464"/>
            <a:ext cx="438912" cy="365760"/>
          </a:xfrm>
          <a:prstGeom prst="roundRect">
            <a:avLst>
              <a:gd name="adj" fmla="val 25000"/>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8FAFC"/>
                </a:solidFill>
                <a:latin typeface="Calibri"/>
              </a:rPr>
              <a:t>02</a:t>
            </a:r>
          </a:p>
        </p:txBody>
      </p:sp>
      <p:sp>
        <p:nvSpPr>
          <p:cNvPr id="16" name="TextBox 15"/>
          <p:cNvSpPr txBox="1"/>
          <p:nvPr/>
        </p:nvSpPr>
        <p:spPr>
          <a:xfrm>
            <a:off x="2816352" y="1920240"/>
            <a:ext cx="1975104" cy="640080"/>
          </a:xfrm>
          <a:prstGeom prst="rect">
            <a:avLst/>
          </a:prstGeom>
          <a:noFill/>
        </p:spPr>
        <p:txBody>
          <a:bodyPr wrap="square" anchor="t"/>
          <a:lstStyle/>
          <a:p>
            <a:pPr algn="l"/>
            <a:r>
              <a:rPr sz="1500" b="1">
                <a:solidFill>
                  <a:srgbClr val="F8FAFC"/>
                </a:solidFill>
                <a:latin typeface="Calibri"/>
              </a:rPr>
              <a:t>Gemini 2.5 Vision</a:t>
            </a:r>
          </a:p>
        </p:txBody>
      </p:sp>
      <p:sp>
        <p:nvSpPr>
          <p:cNvPr id="17" name="TextBox 16"/>
          <p:cNvSpPr txBox="1"/>
          <p:nvPr/>
        </p:nvSpPr>
        <p:spPr>
          <a:xfrm>
            <a:off x="2816352" y="2578608"/>
            <a:ext cx="1975104" cy="1554480"/>
          </a:xfrm>
          <a:prstGeom prst="rect">
            <a:avLst/>
          </a:prstGeom>
          <a:noFill/>
        </p:spPr>
        <p:txBody>
          <a:bodyPr wrap="square" anchor="t"/>
          <a:lstStyle/>
          <a:p>
            <a:pPr algn="l"/>
            <a:r>
              <a:rPr sz="1200" b="0">
                <a:solidFill>
                  <a:srgbClr val="CBD5E1"/>
                </a:solidFill>
                <a:latin typeface="Calibri"/>
              </a:rPr>
              <a:t>Estimates flood depth, detects live wires and submerged vehicles, rejects stock or fake photos.</a:t>
            </a:r>
          </a:p>
        </p:txBody>
      </p:sp>
      <p:sp>
        <p:nvSpPr>
          <p:cNvPr id="18" name="TextBox 17"/>
          <p:cNvSpPr txBox="1"/>
          <p:nvPr/>
        </p:nvSpPr>
        <p:spPr>
          <a:xfrm>
            <a:off x="2816352" y="4434840"/>
            <a:ext cx="1975104" cy="329184"/>
          </a:xfrm>
          <a:prstGeom prst="rect">
            <a:avLst/>
          </a:prstGeom>
          <a:noFill/>
        </p:spPr>
        <p:txBody>
          <a:bodyPr wrap="square" anchor="t"/>
          <a:lstStyle/>
          <a:p>
            <a:pPr algn="l"/>
            <a:r>
              <a:rPr sz="1200" b="1">
                <a:solidFill>
                  <a:srgbClr val="22D3EE"/>
                </a:solidFill>
                <a:latin typeface="Calibri"/>
              </a:rPr>
              <a:t>WEIGHT  35%</a:t>
            </a:r>
          </a:p>
        </p:txBody>
      </p:sp>
      <p:sp>
        <p:nvSpPr>
          <p:cNvPr id="19" name="Rounded Rectangle 18"/>
          <p:cNvSpPr/>
          <p:nvPr/>
        </p:nvSpPr>
        <p:spPr>
          <a:xfrm>
            <a:off x="5047488" y="1261872"/>
            <a:ext cx="2267712" cy="3703320"/>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193792" y="1426464"/>
            <a:ext cx="438912" cy="365760"/>
          </a:xfrm>
          <a:prstGeom prst="roundRect">
            <a:avLst>
              <a:gd name="adj" fmla="val 25000"/>
            </a:avLst>
          </a:prstGeom>
          <a:solidFill>
            <a:srgbClr val="818C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8FAFC"/>
                </a:solidFill>
                <a:latin typeface="Calibri"/>
              </a:rPr>
              <a:t>03</a:t>
            </a:r>
          </a:p>
        </p:txBody>
      </p:sp>
      <p:sp>
        <p:nvSpPr>
          <p:cNvPr id="21" name="TextBox 20"/>
          <p:cNvSpPr txBox="1"/>
          <p:nvPr/>
        </p:nvSpPr>
        <p:spPr>
          <a:xfrm>
            <a:off x="5193792" y="1920240"/>
            <a:ext cx="1975104" cy="640080"/>
          </a:xfrm>
          <a:prstGeom prst="rect">
            <a:avLst/>
          </a:prstGeom>
          <a:noFill/>
        </p:spPr>
        <p:txBody>
          <a:bodyPr wrap="square" anchor="t"/>
          <a:lstStyle/>
          <a:p>
            <a:pPr algn="l"/>
            <a:r>
              <a:rPr sz="1500" b="1">
                <a:solidFill>
                  <a:srgbClr val="F8FAFC"/>
                </a:solidFill>
                <a:latin typeface="Calibri"/>
              </a:rPr>
              <a:t>Weather &amp; River Telemetry</a:t>
            </a:r>
          </a:p>
        </p:txBody>
      </p:sp>
      <p:sp>
        <p:nvSpPr>
          <p:cNvPr id="22" name="TextBox 21"/>
          <p:cNvSpPr txBox="1"/>
          <p:nvPr/>
        </p:nvSpPr>
        <p:spPr>
          <a:xfrm>
            <a:off x="5193792" y="2578608"/>
            <a:ext cx="1975104" cy="1554480"/>
          </a:xfrm>
          <a:prstGeom prst="rect">
            <a:avLst/>
          </a:prstGeom>
          <a:noFill/>
        </p:spPr>
        <p:txBody>
          <a:bodyPr wrap="square" anchor="t"/>
          <a:lstStyle/>
          <a:p>
            <a:pPr algn="l"/>
            <a:r>
              <a:rPr sz="1200" b="0">
                <a:solidFill>
                  <a:srgbClr val="CBD5E1"/>
                </a:solidFill>
                <a:latin typeface="Calibri"/>
              </a:rPr>
              <a:t>Cross-checks Kelani gauges at Nagalagam Street and 24h ward rainfall radar.</a:t>
            </a:r>
          </a:p>
        </p:txBody>
      </p:sp>
      <p:sp>
        <p:nvSpPr>
          <p:cNvPr id="23" name="TextBox 22"/>
          <p:cNvSpPr txBox="1"/>
          <p:nvPr/>
        </p:nvSpPr>
        <p:spPr>
          <a:xfrm>
            <a:off x="5193792" y="4434840"/>
            <a:ext cx="1975104" cy="329184"/>
          </a:xfrm>
          <a:prstGeom prst="rect">
            <a:avLst/>
          </a:prstGeom>
          <a:noFill/>
        </p:spPr>
        <p:txBody>
          <a:bodyPr wrap="square" anchor="t"/>
          <a:lstStyle/>
          <a:p>
            <a:pPr algn="l"/>
            <a:r>
              <a:rPr sz="1200" b="1">
                <a:solidFill>
                  <a:srgbClr val="818CF8"/>
                </a:solidFill>
                <a:latin typeface="Calibri"/>
              </a:rPr>
              <a:t>WEIGHT  20%</a:t>
            </a:r>
          </a:p>
        </p:txBody>
      </p:sp>
      <p:sp>
        <p:nvSpPr>
          <p:cNvPr id="24" name="Rounded Rectangle 23"/>
          <p:cNvSpPr/>
          <p:nvPr/>
        </p:nvSpPr>
        <p:spPr>
          <a:xfrm>
            <a:off x="7424928" y="1261872"/>
            <a:ext cx="2267712" cy="3703320"/>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571232" y="1426464"/>
            <a:ext cx="438912" cy="365760"/>
          </a:xfrm>
          <a:prstGeom prst="roundRect">
            <a:avLst>
              <a:gd name="adj" fmla="val 25000"/>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8FAFC"/>
                </a:solidFill>
                <a:latin typeface="Calibri"/>
              </a:rPr>
              <a:t>04</a:t>
            </a:r>
          </a:p>
        </p:txBody>
      </p:sp>
      <p:sp>
        <p:nvSpPr>
          <p:cNvPr id="26" name="TextBox 25"/>
          <p:cNvSpPr txBox="1"/>
          <p:nvPr/>
        </p:nvSpPr>
        <p:spPr>
          <a:xfrm>
            <a:off x="7571232" y="1920240"/>
            <a:ext cx="1975104" cy="640080"/>
          </a:xfrm>
          <a:prstGeom prst="rect">
            <a:avLst/>
          </a:prstGeom>
          <a:noFill/>
        </p:spPr>
        <p:txBody>
          <a:bodyPr wrap="square" anchor="t"/>
          <a:lstStyle/>
          <a:p>
            <a:pPr algn="l"/>
            <a:r>
              <a:rPr sz="1500" b="1">
                <a:solidFill>
                  <a:srgbClr val="F8FAFC"/>
                </a:solidFill>
                <a:latin typeface="Calibri"/>
              </a:rPr>
              <a:t>PostGIS Cluster Check</a:t>
            </a:r>
          </a:p>
        </p:txBody>
      </p:sp>
      <p:sp>
        <p:nvSpPr>
          <p:cNvPr id="27" name="TextBox 26"/>
          <p:cNvSpPr txBox="1"/>
          <p:nvPr/>
        </p:nvSpPr>
        <p:spPr>
          <a:xfrm>
            <a:off x="7571232" y="2578608"/>
            <a:ext cx="1975104" cy="1554480"/>
          </a:xfrm>
          <a:prstGeom prst="rect">
            <a:avLst/>
          </a:prstGeom>
          <a:noFill/>
        </p:spPr>
        <p:txBody>
          <a:bodyPr wrap="square" anchor="t"/>
          <a:lstStyle/>
          <a:p>
            <a:pPr algn="l"/>
            <a:r>
              <a:rPr sz="1200" b="0">
                <a:solidFill>
                  <a:srgbClr val="CBD5E1"/>
                </a:solidFill>
                <a:latin typeface="Calibri"/>
              </a:rPr>
              <a:t>ST_DWithin 150–200m groups 50 duplicate calls into 1 master incident.</a:t>
            </a:r>
          </a:p>
        </p:txBody>
      </p:sp>
      <p:sp>
        <p:nvSpPr>
          <p:cNvPr id="28" name="TextBox 27"/>
          <p:cNvSpPr txBox="1"/>
          <p:nvPr/>
        </p:nvSpPr>
        <p:spPr>
          <a:xfrm>
            <a:off x="7571232" y="4434840"/>
            <a:ext cx="1975104" cy="329184"/>
          </a:xfrm>
          <a:prstGeom prst="rect">
            <a:avLst/>
          </a:prstGeom>
          <a:noFill/>
        </p:spPr>
        <p:txBody>
          <a:bodyPr wrap="square" anchor="t"/>
          <a:lstStyle/>
          <a:p>
            <a:pPr algn="l"/>
            <a:r>
              <a:rPr sz="1200" b="1">
                <a:solidFill>
                  <a:srgbClr val="F59E0B"/>
                </a:solidFill>
                <a:latin typeface="Calibri"/>
              </a:rPr>
              <a:t>WEIGHT  20%</a:t>
            </a:r>
          </a:p>
        </p:txBody>
      </p:sp>
      <p:sp>
        <p:nvSpPr>
          <p:cNvPr id="29" name="Rounded Rectangle 28"/>
          <p:cNvSpPr/>
          <p:nvPr/>
        </p:nvSpPr>
        <p:spPr>
          <a:xfrm>
            <a:off x="9802368" y="1261872"/>
            <a:ext cx="2267712" cy="3703320"/>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948672" y="1426464"/>
            <a:ext cx="438912" cy="365760"/>
          </a:xfrm>
          <a:prstGeom prst="roundRect">
            <a:avLst>
              <a:gd name="adj" fmla="val 25000"/>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8FAFC"/>
                </a:solidFill>
                <a:latin typeface="Calibri"/>
              </a:rPr>
              <a:t>05</a:t>
            </a:r>
          </a:p>
        </p:txBody>
      </p:sp>
      <p:sp>
        <p:nvSpPr>
          <p:cNvPr id="31" name="TextBox 30"/>
          <p:cNvSpPr txBox="1"/>
          <p:nvPr/>
        </p:nvSpPr>
        <p:spPr>
          <a:xfrm>
            <a:off x="9948672" y="1920240"/>
            <a:ext cx="1975104" cy="640080"/>
          </a:xfrm>
          <a:prstGeom prst="rect">
            <a:avLst/>
          </a:prstGeom>
          <a:noFill/>
        </p:spPr>
        <p:txBody>
          <a:bodyPr wrap="square" anchor="t"/>
          <a:lstStyle/>
          <a:p>
            <a:pPr algn="l"/>
            <a:r>
              <a:rPr sz="1500" b="1">
                <a:solidFill>
                  <a:srgbClr val="F8FAFC"/>
                </a:solidFill>
                <a:latin typeface="Calibri"/>
              </a:rPr>
              <a:t>Topology &amp; Risk Score</a:t>
            </a:r>
          </a:p>
        </p:txBody>
      </p:sp>
      <p:sp>
        <p:nvSpPr>
          <p:cNvPr id="32" name="TextBox 31"/>
          <p:cNvSpPr txBox="1"/>
          <p:nvPr/>
        </p:nvSpPr>
        <p:spPr>
          <a:xfrm>
            <a:off x="9948672" y="2578608"/>
            <a:ext cx="1975104" cy="1554480"/>
          </a:xfrm>
          <a:prstGeom prst="rect">
            <a:avLst/>
          </a:prstGeom>
          <a:noFill/>
        </p:spPr>
        <p:txBody>
          <a:bodyPr wrap="square" anchor="t"/>
          <a:lstStyle/>
          <a:p>
            <a:pPr algn="l"/>
            <a:r>
              <a:rPr sz="1200" b="0">
                <a:solidFill>
                  <a:srgbClr val="CBD5E1"/>
                </a:solidFill>
                <a:latin typeface="Calibri"/>
              </a:rPr>
              <a:t>Ward elevation, drainage risk, and arterial-road blockage set the final urgency badge.</a:t>
            </a:r>
          </a:p>
        </p:txBody>
      </p:sp>
      <p:sp>
        <p:nvSpPr>
          <p:cNvPr id="33" name="TextBox 32"/>
          <p:cNvSpPr txBox="1"/>
          <p:nvPr/>
        </p:nvSpPr>
        <p:spPr>
          <a:xfrm>
            <a:off x="9948672" y="4434840"/>
            <a:ext cx="1975104" cy="329184"/>
          </a:xfrm>
          <a:prstGeom prst="rect">
            <a:avLst/>
          </a:prstGeom>
          <a:noFill/>
        </p:spPr>
        <p:txBody>
          <a:bodyPr wrap="square" anchor="t"/>
          <a:lstStyle/>
          <a:p>
            <a:pPr algn="l"/>
            <a:r>
              <a:rPr sz="1200" b="1">
                <a:solidFill>
                  <a:srgbClr val="10B981"/>
                </a:solidFill>
                <a:latin typeface="Calibri"/>
              </a:rPr>
              <a:t>WEIGHT  10%</a:t>
            </a:r>
          </a:p>
        </p:txBody>
      </p:sp>
      <p:sp>
        <p:nvSpPr>
          <p:cNvPr id="34" name="Rounded Rectangle 33"/>
          <p:cNvSpPr/>
          <p:nvPr/>
        </p:nvSpPr>
        <p:spPr>
          <a:xfrm>
            <a:off x="292608" y="5102352"/>
            <a:ext cx="11612880" cy="1298448"/>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5488" y="5212080"/>
            <a:ext cx="3840480" cy="256032"/>
          </a:xfrm>
          <a:prstGeom prst="rect">
            <a:avLst/>
          </a:prstGeom>
          <a:noFill/>
        </p:spPr>
        <p:txBody>
          <a:bodyPr wrap="square" anchor="t"/>
          <a:lstStyle/>
          <a:p>
            <a:pPr algn="l"/>
            <a:r>
              <a:rPr sz="1100" b="1">
                <a:solidFill>
                  <a:srgbClr val="22D3EE"/>
                </a:solidFill>
                <a:latin typeface="Calibri"/>
              </a:rPr>
              <a:t>AGGREGATOR  ·  COMPOSITE SCORE</a:t>
            </a:r>
          </a:p>
        </p:txBody>
      </p:sp>
      <p:sp>
        <p:nvSpPr>
          <p:cNvPr id="36" name="TextBox 35"/>
          <p:cNvSpPr txBox="1"/>
          <p:nvPr/>
        </p:nvSpPr>
        <p:spPr>
          <a:xfrm>
            <a:off x="475488" y="5486400"/>
            <a:ext cx="5120640" cy="329184"/>
          </a:xfrm>
          <a:prstGeom prst="rect">
            <a:avLst/>
          </a:prstGeom>
          <a:noFill/>
        </p:spPr>
        <p:txBody>
          <a:bodyPr wrap="square" anchor="t"/>
          <a:lstStyle/>
          <a:p>
            <a:pPr algn="l"/>
            <a:r>
              <a:rPr sz="1400" b="1">
                <a:solidFill>
                  <a:srgbClr val="F8FAFC"/>
                </a:solidFill>
                <a:latin typeface="Calibri"/>
              </a:rPr>
              <a:t>Score = Σ (Check_i  ×  Weight_i)     Example:  0.80</a:t>
            </a:r>
          </a:p>
        </p:txBody>
      </p:sp>
      <p:sp>
        <p:nvSpPr>
          <p:cNvPr id="37" name="TextBox 36"/>
          <p:cNvSpPr txBox="1"/>
          <p:nvPr/>
        </p:nvSpPr>
        <p:spPr>
          <a:xfrm>
            <a:off x="475488" y="5852160"/>
            <a:ext cx="5120640" cy="329184"/>
          </a:xfrm>
          <a:prstGeom prst="rect">
            <a:avLst/>
          </a:prstGeom>
          <a:noFill/>
        </p:spPr>
        <p:txBody>
          <a:bodyPr wrap="square" anchor="t"/>
          <a:lstStyle/>
          <a:p>
            <a:pPr algn="l"/>
            <a:r>
              <a:rPr sz="1200" b="0">
                <a:solidFill>
                  <a:srgbClr val="94A3B8"/>
                </a:solidFill>
                <a:latin typeface="Calibri"/>
              </a:rPr>
              <a:t>Officers can retune the threshold live during a storm surge.</a:t>
            </a:r>
          </a:p>
        </p:txBody>
      </p:sp>
      <p:sp>
        <p:nvSpPr>
          <p:cNvPr id="38" name="Rounded Rectangle 37"/>
          <p:cNvSpPr/>
          <p:nvPr/>
        </p:nvSpPr>
        <p:spPr>
          <a:xfrm>
            <a:off x="5852160" y="5486400"/>
            <a:ext cx="2057400" cy="475488"/>
          </a:xfrm>
          <a:prstGeom prst="roundRect">
            <a:avLst>
              <a:gd name="adj" fmla="val 50000"/>
            </a:avLst>
          </a:prstGeom>
          <a:solidFill>
            <a:srgbClr val="064E3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10B981"/>
                </a:solidFill>
                <a:latin typeface="Calibri"/>
              </a:rPr>
              <a:t>≥ 0.75  AUTO-PUBLISH</a:t>
            </a:r>
          </a:p>
        </p:txBody>
      </p:sp>
      <p:sp>
        <p:nvSpPr>
          <p:cNvPr id="39" name="Rounded Rectangle 38"/>
          <p:cNvSpPr/>
          <p:nvPr/>
        </p:nvSpPr>
        <p:spPr>
          <a:xfrm>
            <a:off x="8046720" y="5486400"/>
            <a:ext cx="1920240" cy="475488"/>
          </a:xfrm>
          <a:prstGeom prst="roundRect">
            <a:avLst>
              <a:gd name="adj" fmla="val 50000"/>
            </a:avLst>
          </a:prstGeom>
          <a:solidFill>
            <a:srgbClr val="45320A"/>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59E0B"/>
                </a:solidFill>
                <a:latin typeface="Calibri"/>
              </a:rPr>
              <a:t>0.50–0.74  NEED INFO</a:t>
            </a:r>
          </a:p>
        </p:txBody>
      </p:sp>
      <p:sp>
        <p:nvSpPr>
          <p:cNvPr id="40" name="Rounded Rectangle 39"/>
          <p:cNvSpPr/>
          <p:nvPr/>
        </p:nvSpPr>
        <p:spPr>
          <a:xfrm>
            <a:off x="10104120" y="5486400"/>
            <a:ext cx="1600200" cy="475488"/>
          </a:xfrm>
          <a:prstGeom prst="roundRect">
            <a:avLst>
              <a:gd name="adj" fmla="val 50000"/>
            </a:avLst>
          </a:prstGeom>
          <a:solidFill>
            <a:srgbClr val="451414"/>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87171"/>
                </a:solidFill>
                <a:latin typeface="Calibri"/>
              </a:rPr>
              <a:t>&lt; 0.50  PENDING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01968"/>
            <a:ext cx="12191695" cy="256032"/>
          </a:xfrm>
          <a:prstGeom prst="rect">
            <a:avLst/>
          </a:prstGeom>
          <a:solidFill>
            <a:srgbClr val="080E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11338560" cy="256032"/>
          </a:xfrm>
          <a:prstGeom prst="rect">
            <a:avLst/>
          </a:prstGeom>
          <a:noFill/>
        </p:spPr>
        <p:txBody>
          <a:bodyPr wrap="square" anchor="t"/>
          <a:lstStyle/>
          <a:p>
            <a:pPr algn="l"/>
            <a:r>
              <a:rPr sz="1100" b="1">
                <a:solidFill>
                  <a:srgbClr val="22D3EE"/>
                </a:solidFill>
                <a:latin typeface="Calibri"/>
              </a:rPr>
              <a:t>LIVE PLATFORM TOUR  ·  SCREEN 1</a:t>
            </a:r>
          </a:p>
        </p:txBody>
      </p:sp>
      <p:sp>
        <p:nvSpPr>
          <p:cNvPr id="5" name="TextBox 4"/>
          <p:cNvSpPr txBox="1"/>
          <p:nvPr/>
        </p:nvSpPr>
        <p:spPr>
          <a:xfrm>
            <a:off x="411480" y="384048"/>
            <a:ext cx="11338560" cy="438912"/>
          </a:xfrm>
          <a:prstGeom prst="rect">
            <a:avLst/>
          </a:prstGeom>
          <a:noFill/>
        </p:spPr>
        <p:txBody>
          <a:bodyPr wrap="square" anchor="t"/>
          <a:lstStyle/>
          <a:p>
            <a:pPr algn="l"/>
            <a:r>
              <a:rPr sz="2600" b="1">
                <a:solidFill>
                  <a:srgbClr val="F8FAFC"/>
                </a:solidFill>
                <a:latin typeface="Calibri"/>
              </a:rPr>
              <a:t>Municipal Officer Command &amp; Triage Console</a:t>
            </a:r>
          </a:p>
        </p:txBody>
      </p:sp>
      <p:sp>
        <p:nvSpPr>
          <p:cNvPr id="6" name="TextBox 5"/>
          <p:cNvSpPr txBox="1"/>
          <p:nvPr/>
        </p:nvSpPr>
        <p:spPr>
          <a:xfrm>
            <a:off x="411480" y="804672"/>
            <a:ext cx="11338560" cy="292608"/>
          </a:xfrm>
          <a:prstGeom prst="rect">
            <a:avLst/>
          </a:prstGeom>
          <a:noFill/>
        </p:spPr>
        <p:txBody>
          <a:bodyPr wrap="square" anchor="t"/>
          <a:lstStyle/>
          <a:p>
            <a:pPr algn="l"/>
            <a:r>
              <a:rPr sz="1300" b="0">
                <a:solidFill>
                  <a:srgbClr val="94A3B8"/>
                </a:solidFill>
                <a:latin typeface="Calibri"/>
              </a:rPr>
              <a:t>Real-time spatial awareness, 5-check telemetry, and autonomous weather triggers</a:t>
            </a:r>
          </a:p>
        </p:txBody>
      </p:sp>
      <p:sp>
        <p:nvSpPr>
          <p:cNvPr id="7" name="TextBox 6"/>
          <p:cNvSpPr txBox="1"/>
          <p:nvPr/>
        </p:nvSpPr>
        <p:spPr>
          <a:xfrm>
            <a:off x="365760" y="6620256"/>
            <a:ext cx="5486400" cy="219456"/>
          </a:xfrm>
          <a:prstGeom prst="rect">
            <a:avLst/>
          </a:prstGeom>
          <a:noFill/>
        </p:spPr>
        <p:txBody>
          <a:bodyPr wrap="square" anchor="t"/>
          <a:lstStyle/>
          <a:p>
            <a:pPr algn="l"/>
            <a:r>
              <a:rPr sz="900" b="0">
                <a:solidFill>
                  <a:srgbClr val="94A3B8"/>
                </a:solidFill>
                <a:latin typeface="Calibri"/>
              </a:rPr>
              <a:t>FENDER  ·  CodeArena '26  ·  Topic 04: Disaster Response</a:t>
            </a:r>
          </a:p>
        </p:txBody>
      </p:sp>
      <p:sp>
        <p:nvSpPr>
          <p:cNvPr id="8" name="TextBox 7"/>
          <p:cNvSpPr txBox="1"/>
          <p:nvPr/>
        </p:nvSpPr>
        <p:spPr>
          <a:xfrm>
            <a:off x="9692640" y="6620256"/>
            <a:ext cx="2103120" cy="219456"/>
          </a:xfrm>
          <a:prstGeom prst="rect">
            <a:avLst/>
          </a:prstGeom>
          <a:noFill/>
        </p:spPr>
        <p:txBody>
          <a:bodyPr wrap="square" anchor="t"/>
          <a:lstStyle/>
          <a:p>
            <a:pPr algn="r"/>
            <a:r>
              <a:rPr sz="900" b="0">
                <a:solidFill>
                  <a:srgbClr val="94A3B8"/>
                </a:solidFill>
                <a:latin typeface="Calibri"/>
              </a:rPr>
              <a:t>5  /  10</a:t>
            </a:r>
          </a:p>
        </p:txBody>
      </p:sp>
      <p:sp>
        <p:nvSpPr>
          <p:cNvPr id="9" name="Rounded Rectangle 8"/>
          <p:cNvSpPr/>
          <p:nvPr/>
        </p:nvSpPr>
        <p:spPr>
          <a:xfrm>
            <a:off x="347472" y="1207008"/>
            <a:ext cx="7818120" cy="5074920"/>
          </a:xfrm>
          <a:prstGeom prst="roundRect">
            <a:avLst>
              <a:gd name="adj" fmla="val 8000"/>
            </a:avLst>
          </a:prstGeom>
          <a:solidFill>
            <a:srgbClr val="080E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1-officer-triage-dashboard.png"/>
          <p:cNvPicPr>
            <a:picLocks noChangeAspect="1"/>
          </p:cNvPicPr>
          <p:nvPr/>
        </p:nvPicPr>
        <p:blipFill>
          <a:blip r:embed="rId3"/>
          <a:stretch>
            <a:fillRect/>
          </a:stretch>
        </p:blipFill>
        <p:spPr>
          <a:xfrm>
            <a:off x="457200" y="1316736"/>
            <a:ext cx="7598664" cy="4270248"/>
          </a:xfrm>
          <a:prstGeom prst="rect">
            <a:avLst/>
          </a:prstGeom>
        </p:spPr>
      </p:pic>
      <p:sp>
        <p:nvSpPr>
          <p:cNvPr id="11" name="TextBox 10"/>
          <p:cNvSpPr txBox="1"/>
          <p:nvPr/>
        </p:nvSpPr>
        <p:spPr>
          <a:xfrm>
            <a:off x="502920" y="5669280"/>
            <a:ext cx="5303520" cy="256032"/>
          </a:xfrm>
          <a:prstGeom prst="rect">
            <a:avLst/>
          </a:prstGeom>
          <a:noFill/>
        </p:spPr>
        <p:txBody>
          <a:bodyPr wrap="square" anchor="t"/>
          <a:lstStyle/>
          <a:p>
            <a:pPr algn="l"/>
            <a:r>
              <a:rPr sz="1100" b="1">
                <a:solidFill>
                  <a:srgbClr val="22D3EE"/>
                </a:solidFill>
                <a:latin typeface="Calibri"/>
              </a:rPr>
              <a:t>Incident #428CA8A8  ·  Flood  ·  Ward 01 Nagalagam</a:t>
            </a:r>
          </a:p>
        </p:txBody>
      </p:sp>
      <p:sp>
        <p:nvSpPr>
          <p:cNvPr id="12" name="TextBox 11"/>
          <p:cNvSpPr txBox="1"/>
          <p:nvPr/>
        </p:nvSpPr>
        <p:spPr>
          <a:xfrm>
            <a:off x="5852160" y="5669280"/>
            <a:ext cx="2148840" cy="256032"/>
          </a:xfrm>
          <a:prstGeom prst="rect">
            <a:avLst/>
          </a:prstGeom>
          <a:noFill/>
        </p:spPr>
        <p:txBody>
          <a:bodyPr wrap="square" anchor="t"/>
          <a:lstStyle/>
          <a:p>
            <a:pPr algn="r"/>
            <a:r>
              <a:rPr sz="1100" b="1">
                <a:solidFill>
                  <a:srgbClr val="10B981"/>
                </a:solidFill>
                <a:latin typeface="Calibri"/>
              </a:rPr>
              <a:t>Verdict  0.80  CONFIRMED</a:t>
            </a:r>
          </a:p>
        </p:txBody>
      </p:sp>
      <p:sp>
        <p:nvSpPr>
          <p:cNvPr id="13" name="Rounded Rectangle 12"/>
          <p:cNvSpPr/>
          <p:nvPr/>
        </p:nvSpPr>
        <p:spPr>
          <a:xfrm>
            <a:off x="8321040" y="1207008"/>
            <a:ext cx="3493008" cy="1152144"/>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85632" y="1316736"/>
            <a:ext cx="3182112" cy="292608"/>
          </a:xfrm>
          <a:prstGeom prst="rect">
            <a:avLst/>
          </a:prstGeom>
          <a:noFill/>
        </p:spPr>
        <p:txBody>
          <a:bodyPr wrap="square" anchor="t"/>
          <a:lstStyle/>
          <a:p>
            <a:pPr algn="l"/>
            <a:r>
              <a:rPr sz="1400" b="1">
                <a:solidFill>
                  <a:srgbClr val="22D3EE"/>
                </a:solidFill>
                <a:latin typeface="Calibri"/>
              </a:rPr>
              <a:t>AI sensitivity slider</a:t>
            </a:r>
          </a:p>
        </p:txBody>
      </p:sp>
      <p:sp>
        <p:nvSpPr>
          <p:cNvPr id="15" name="TextBox 14"/>
          <p:cNvSpPr txBox="1"/>
          <p:nvPr/>
        </p:nvSpPr>
        <p:spPr>
          <a:xfrm>
            <a:off x="8485632" y="1627632"/>
            <a:ext cx="3182112" cy="621792"/>
          </a:xfrm>
          <a:prstGeom prst="rect">
            <a:avLst/>
          </a:prstGeom>
          <a:noFill/>
        </p:spPr>
        <p:txBody>
          <a:bodyPr wrap="square" anchor="t"/>
          <a:lstStyle/>
          <a:p>
            <a:pPr algn="l"/>
            <a:r>
              <a:rPr sz="1200" b="0">
                <a:solidFill>
                  <a:srgbClr val="CBD5E1"/>
                </a:solidFill>
                <a:latin typeface="Calibri"/>
              </a:rPr>
              <a:t>Throttle auto-publish from 0.50 to 0.90 during peak storm volume.</a:t>
            </a:r>
          </a:p>
        </p:txBody>
      </p:sp>
      <p:sp>
        <p:nvSpPr>
          <p:cNvPr id="16" name="Rounded Rectangle 15"/>
          <p:cNvSpPr/>
          <p:nvPr/>
        </p:nvSpPr>
        <p:spPr>
          <a:xfrm>
            <a:off x="8321040" y="2468880"/>
            <a:ext cx="3493008" cy="1152144"/>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85632" y="2578608"/>
            <a:ext cx="3182112" cy="292608"/>
          </a:xfrm>
          <a:prstGeom prst="rect">
            <a:avLst/>
          </a:prstGeom>
          <a:noFill/>
        </p:spPr>
        <p:txBody>
          <a:bodyPr wrap="square" anchor="t"/>
          <a:lstStyle/>
          <a:p>
            <a:pPr algn="l"/>
            <a:r>
              <a:rPr sz="1400" b="1">
                <a:solidFill>
                  <a:srgbClr val="3B82F6"/>
                </a:solidFill>
                <a:latin typeface="Calibri"/>
              </a:rPr>
              <a:t>Deep telemetry</a:t>
            </a:r>
          </a:p>
        </p:txBody>
      </p:sp>
      <p:sp>
        <p:nvSpPr>
          <p:cNvPr id="18" name="TextBox 17"/>
          <p:cNvSpPr txBox="1"/>
          <p:nvPr/>
        </p:nvSpPr>
        <p:spPr>
          <a:xfrm>
            <a:off x="8485632" y="2889504"/>
            <a:ext cx="3182112" cy="621792"/>
          </a:xfrm>
          <a:prstGeom prst="rect">
            <a:avLst/>
          </a:prstGeom>
          <a:noFill/>
        </p:spPr>
        <p:txBody>
          <a:bodyPr wrap="square" anchor="t"/>
          <a:lstStyle/>
          <a:p>
            <a:pPr algn="l"/>
            <a:r>
              <a:rPr sz="1200" b="0">
                <a:solidFill>
                  <a:srgbClr val="CBD5E1"/>
                </a:solidFill>
                <a:latin typeface="Calibri"/>
              </a:rPr>
              <a:t>Inspect Input 0.85 · Vision 0.90 · Weather 0.70 · Cluster 1.00 · Risk 0.75.</a:t>
            </a:r>
          </a:p>
        </p:txBody>
      </p:sp>
      <p:sp>
        <p:nvSpPr>
          <p:cNvPr id="19" name="Rounded Rectangle 18"/>
          <p:cNvSpPr/>
          <p:nvPr/>
        </p:nvSpPr>
        <p:spPr>
          <a:xfrm>
            <a:off x="8321040" y="3730752"/>
            <a:ext cx="3493008" cy="1152144"/>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85632" y="3840480"/>
            <a:ext cx="3182112" cy="292608"/>
          </a:xfrm>
          <a:prstGeom prst="rect">
            <a:avLst/>
          </a:prstGeom>
          <a:noFill/>
        </p:spPr>
        <p:txBody>
          <a:bodyPr wrap="square" anchor="t"/>
          <a:lstStyle/>
          <a:p>
            <a:pPr algn="l"/>
            <a:r>
              <a:rPr sz="1400" b="1">
                <a:solidFill>
                  <a:srgbClr val="F59E0B"/>
                </a:solidFill>
                <a:latin typeface="Calibri"/>
              </a:rPr>
              <a:t>One-click override</a:t>
            </a:r>
          </a:p>
        </p:txBody>
      </p:sp>
      <p:sp>
        <p:nvSpPr>
          <p:cNvPr id="21" name="TextBox 20"/>
          <p:cNvSpPr txBox="1"/>
          <p:nvPr/>
        </p:nvSpPr>
        <p:spPr>
          <a:xfrm>
            <a:off x="8485632" y="4151376"/>
            <a:ext cx="3182112" cy="621792"/>
          </a:xfrm>
          <a:prstGeom prst="rect">
            <a:avLst/>
          </a:prstGeom>
          <a:noFill/>
        </p:spPr>
        <p:txBody>
          <a:bodyPr wrap="square" anchor="t"/>
          <a:lstStyle/>
          <a:p>
            <a:pPr algn="l"/>
            <a:r>
              <a:rPr sz="1200" b="0">
                <a:solidFill>
                  <a:srgbClr val="CBD5E1"/>
                </a:solidFill>
                <a:latin typeface="Calibri"/>
              </a:rPr>
              <a:t>Publish · Need Info · Area Alert · Council Ticket — every action is audited.</a:t>
            </a:r>
          </a:p>
        </p:txBody>
      </p:sp>
      <p:sp>
        <p:nvSpPr>
          <p:cNvPr id="22" name="Rounded Rectangle 21"/>
          <p:cNvSpPr/>
          <p:nvPr/>
        </p:nvSpPr>
        <p:spPr>
          <a:xfrm>
            <a:off x="8321040" y="4992624"/>
            <a:ext cx="3493008" cy="1152144"/>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85632" y="5102352"/>
            <a:ext cx="3182112" cy="292608"/>
          </a:xfrm>
          <a:prstGeom prst="rect">
            <a:avLst/>
          </a:prstGeom>
          <a:noFill/>
        </p:spPr>
        <p:txBody>
          <a:bodyPr wrap="square" anchor="t"/>
          <a:lstStyle/>
          <a:p>
            <a:pPr algn="l"/>
            <a:r>
              <a:rPr sz="1400" b="1">
                <a:solidFill>
                  <a:srgbClr val="10B981"/>
                </a:solidFill>
                <a:latin typeface="Calibri"/>
              </a:rPr>
              <a:t>River gauge alarm</a:t>
            </a:r>
          </a:p>
        </p:txBody>
      </p:sp>
      <p:sp>
        <p:nvSpPr>
          <p:cNvPr id="24" name="TextBox 23"/>
          <p:cNvSpPr txBox="1"/>
          <p:nvPr/>
        </p:nvSpPr>
        <p:spPr>
          <a:xfrm>
            <a:off x="8485632" y="5413248"/>
            <a:ext cx="3182112" cy="621792"/>
          </a:xfrm>
          <a:prstGeom prst="rect">
            <a:avLst/>
          </a:prstGeom>
          <a:noFill/>
        </p:spPr>
        <p:txBody>
          <a:bodyPr wrap="square" anchor="t"/>
          <a:lstStyle/>
          <a:p>
            <a:pPr algn="l"/>
            <a:r>
              <a:rPr sz="1200" b="0">
                <a:solidFill>
                  <a:srgbClr val="CBD5E1"/>
                </a:solidFill>
                <a:latin typeface="Calibri"/>
              </a:rPr>
              <a:t>Kelani at 88% auto-raises ward banners without waiting for a dispatcher.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01968"/>
            <a:ext cx="12191695" cy="256032"/>
          </a:xfrm>
          <a:prstGeom prst="rect">
            <a:avLst/>
          </a:prstGeom>
          <a:solidFill>
            <a:srgbClr val="080E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11338560" cy="256032"/>
          </a:xfrm>
          <a:prstGeom prst="rect">
            <a:avLst/>
          </a:prstGeom>
          <a:noFill/>
        </p:spPr>
        <p:txBody>
          <a:bodyPr wrap="square" anchor="t"/>
          <a:lstStyle/>
          <a:p>
            <a:pPr algn="l"/>
            <a:r>
              <a:rPr sz="1100" b="1">
                <a:solidFill>
                  <a:srgbClr val="22D3EE"/>
                </a:solidFill>
                <a:latin typeface="Calibri"/>
              </a:rPr>
              <a:t>LIVE PLATFORM TOUR  ·  SCREEN 2</a:t>
            </a:r>
          </a:p>
        </p:txBody>
      </p:sp>
      <p:sp>
        <p:nvSpPr>
          <p:cNvPr id="5" name="TextBox 4"/>
          <p:cNvSpPr txBox="1"/>
          <p:nvPr/>
        </p:nvSpPr>
        <p:spPr>
          <a:xfrm>
            <a:off x="411480" y="384048"/>
            <a:ext cx="11338560" cy="438912"/>
          </a:xfrm>
          <a:prstGeom prst="rect">
            <a:avLst/>
          </a:prstGeom>
          <a:noFill/>
        </p:spPr>
        <p:txBody>
          <a:bodyPr wrap="square" anchor="t"/>
          <a:lstStyle/>
          <a:p>
            <a:pPr algn="l"/>
            <a:r>
              <a:rPr sz="2600" b="1">
                <a:solidFill>
                  <a:srgbClr val="F8FAFC"/>
                </a:solidFill>
                <a:latin typeface="Calibri"/>
              </a:rPr>
              <a:t>Citizen Emergency Lifeline &amp; Interactive Map</a:t>
            </a:r>
          </a:p>
        </p:txBody>
      </p:sp>
      <p:sp>
        <p:nvSpPr>
          <p:cNvPr id="6" name="TextBox 5"/>
          <p:cNvSpPr txBox="1"/>
          <p:nvPr/>
        </p:nvSpPr>
        <p:spPr>
          <a:xfrm>
            <a:off x="411480" y="804672"/>
            <a:ext cx="11338560" cy="292608"/>
          </a:xfrm>
          <a:prstGeom prst="rect">
            <a:avLst/>
          </a:prstGeom>
          <a:noFill/>
        </p:spPr>
        <p:txBody>
          <a:bodyPr wrap="square" anchor="t"/>
          <a:lstStyle/>
          <a:p>
            <a:pPr algn="l"/>
            <a:r>
              <a:rPr sz="1300" b="0">
                <a:solidFill>
                  <a:srgbClr val="94A3B8"/>
                </a:solidFill>
                <a:latin typeface="Calibri"/>
              </a:rPr>
              <a:t>15-second geotagged intake, offline SOS, and live evacuation routing</a:t>
            </a:r>
          </a:p>
        </p:txBody>
      </p:sp>
      <p:sp>
        <p:nvSpPr>
          <p:cNvPr id="7" name="TextBox 6"/>
          <p:cNvSpPr txBox="1"/>
          <p:nvPr/>
        </p:nvSpPr>
        <p:spPr>
          <a:xfrm>
            <a:off x="365760" y="6620256"/>
            <a:ext cx="5486400" cy="219456"/>
          </a:xfrm>
          <a:prstGeom prst="rect">
            <a:avLst/>
          </a:prstGeom>
          <a:noFill/>
        </p:spPr>
        <p:txBody>
          <a:bodyPr wrap="square" anchor="t"/>
          <a:lstStyle/>
          <a:p>
            <a:pPr algn="l"/>
            <a:r>
              <a:rPr sz="900" b="0">
                <a:solidFill>
                  <a:srgbClr val="94A3B8"/>
                </a:solidFill>
                <a:latin typeface="Calibri"/>
              </a:rPr>
              <a:t>FENDER  ·  CodeArena '26  ·  Topic 04: Disaster Response</a:t>
            </a:r>
          </a:p>
        </p:txBody>
      </p:sp>
      <p:sp>
        <p:nvSpPr>
          <p:cNvPr id="8" name="TextBox 7"/>
          <p:cNvSpPr txBox="1"/>
          <p:nvPr/>
        </p:nvSpPr>
        <p:spPr>
          <a:xfrm>
            <a:off x="9692640" y="6620256"/>
            <a:ext cx="2103120" cy="219456"/>
          </a:xfrm>
          <a:prstGeom prst="rect">
            <a:avLst/>
          </a:prstGeom>
          <a:noFill/>
        </p:spPr>
        <p:txBody>
          <a:bodyPr wrap="square" anchor="t"/>
          <a:lstStyle/>
          <a:p>
            <a:pPr algn="r"/>
            <a:r>
              <a:rPr sz="900" b="0">
                <a:solidFill>
                  <a:srgbClr val="94A3B8"/>
                </a:solidFill>
                <a:latin typeface="Calibri"/>
              </a:rPr>
              <a:t>6  /  10</a:t>
            </a:r>
          </a:p>
        </p:txBody>
      </p:sp>
      <p:sp>
        <p:nvSpPr>
          <p:cNvPr id="9" name="Rounded Rectangle 8"/>
          <p:cNvSpPr/>
          <p:nvPr/>
        </p:nvSpPr>
        <p:spPr>
          <a:xfrm>
            <a:off x="502920" y="1207008"/>
            <a:ext cx="3657600" cy="5102352"/>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2-citizen-home-lifeline.jpg"/>
          <p:cNvPicPr>
            <a:picLocks noChangeAspect="1"/>
          </p:cNvPicPr>
          <p:nvPr/>
        </p:nvPicPr>
        <p:blipFill>
          <a:blip r:embed="rId3"/>
          <a:stretch>
            <a:fillRect/>
          </a:stretch>
        </p:blipFill>
        <p:spPr>
          <a:xfrm>
            <a:off x="1280160" y="1335024"/>
            <a:ext cx="2103120" cy="3712463"/>
          </a:xfrm>
          <a:prstGeom prst="rect">
            <a:avLst/>
          </a:prstGeom>
        </p:spPr>
      </p:pic>
      <p:sp>
        <p:nvSpPr>
          <p:cNvPr id="11" name="TextBox 10"/>
          <p:cNvSpPr txBox="1"/>
          <p:nvPr/>
        </p:nvSpPr>
        <p:spPr>
          <a:xfrm>
            <a:off x="649224" y="5138928"/>
            <a:ext cx="3364992" cy="292608"/>
          </a:xfrm>
          <a:prstGeom prst="rect">
            <a:avLst/>
          </a:prstGeom>
          <a:noFill/>
        </p:spPr>
        <p:txBody>
          <a:bodyPr wrap="square" anchor="t"/>
          <a:lstStyle/>
          <a:p>
            <a:pPr algn="ctr"/>
            <a:r>
              <a:rPr sz="1400" b="1">
                <a:solidFill>
                  <a:srgbClr val="F8FAFC"/>
                </a:solidFill>
                <a:latin typeface="Calibri"/>
              </a:rPr>
              <a:t>Trilingual Lifelines</a:t>
            </a:r>
          </a:p>
        </p:txBody>
      </p:sp>
      <p:sp>
        <p:nvSpPr>
          <p:cNvPr id="12" name="TextBox 11"/>
          <p:cNvSpPr txBox="1"/>
          <p:nvPr/>
        </p:nvSpPr>
        <p:spPr>
          <a:xfrm>
            <a:off x="649224" y="5431536"/>
            <a:ext cx="3364992" cy="658368"/>
          </a:xfrm>
          <a:prstGeom prst="rect">
            <a:avLst/>
          </a:prstGeom>
          <a:noFill/>
        </p:spPr>
        <p:txBody>
          <a:bodyPr wrap="square" anchor="t"/>
          <a:lstStyle/>
          <a:p>
            <a:pPr algn="ctr"/>
            <a:r>
              <a:rPr sz="1200" b="0">
                <a:solidFill>
                  <a:srgbClr val="94A3B8"/>
                </a:solidFill>
                <a:latin typeface="Calibri"/>
              </a:rPr>
              <a:t>117 / 1990 dialers, flood advisory, offline QR SOS.</a:t>
            </a:r>
          </a:p>
        </p:txBody>
      </p:sp>
      <p:sp>
        <p:nvSpPr>
          <p:cNvPr id="13" name="Rounded Rectangle 12"/>
          <p:cNvSpPr/>
          <p:nvPr/>
        </p:nvSpPr>
        <p:spPr>
          <a:xfrm>
            <a:off x="4389120" y="1207008"/>
            <a:ext cx="3657600" cy="5102352"/>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07-citizen-report-hazard.jpg"/>
          <p:cNvPicPr>
            <a:picLocks noChangeAspect="1"/>
          </p:cNvPicPr>
          <p:nvPr/>
        </p:nvPicPr>
        <p:blipFill>
          <a:blip r:embed="rId4"/>
          <a:stretch>
            <a:fillRect/>
          </a:stretch>
        </p:blipFill>
        <p:spPr>
          <a:xfrm>
            <a:off x="5166360" y="1335024"/>
            <a:ext cx="2103120" cy="3712463"/>
          </a:xfrm>
          <a:prstGeom prst="rect">
            <a:avLst/>
          </a:prstGeom>
        </p:spPr>
      </p:pic>
      <p:sp>
        <p:nvSpPr>
          <p:cNvPr id="15" name="TextBox 14"/>
          <p:cNvSpPr txBox="1"/>
          <p:nvPr/>
        </p:nvSpPr>
        <p:spPr>
          <a:xfrm>
            <a:off x="4535424" y="5138928"/>
            <a:ext cx="3364992" cy="292608"/>
          </a:xfrm>
          <a:prstGeom prst="rect">
            <a:avLst/>
          </a:prstGeom>
          <a:noFill/>
        </p:spPr>
        <p:txBody>
          <a:bodyPr wrap="square" anchor="t"/>
          <a:lstStyle/>
          <a:p>
            <a:pPr algn="ctr"/>
            <a:r>
              <a:rPr sz="1400" b="1">
                <a:solidFill>
                  <a:srgbClr val="F8FAFC"/>
                </a:solidFill>
                <a:latin typeface="Calibri"/>
              </a:rPr>
              <a:t>One-tap Camera + GPS</a:t>
            </a:r>
          </a:p>
        </p:txBody>
      </p:sp>
      <p:sp>
        <p:nvSpPr>
          <p:cNvPr id="16" name="TextBox 15"/>
          <p:cNvSpPr txBox="1"/>
          <p:nvPr/>
        </p:nvSpPr>
        <p:spPr>
          <a:xfrm>
            <a:off x="4535424" y="5431536"/>
            <a:ext cx="3364992" cy="658368"/>
          </a:xfrm>
          <a:prstGeom prst="rect">
            <a:avLst/>
          </a:prstGeom>
          <a:noFill/>
        </p:spPr>
        <p:txBody>
          <a:bodyPr wrap="square" anchor="t"/>
          <a:lstStyle/>
          <a:p>
            <a:pPr algn="ctr"/>
            <a:r>
              <a:rPr sz="1200" b="0">
                <a:solidFill>
                  <a:srgbClr val="94A3B8"/>
                </a:solidFill>
                <a:latin typeface="Calibri"/>
              </a:rPr>
              <a:t>Locked coordinates + live 5-check AI progress modal.</a:t>
            </a:r>
          </a:p>
        </p:txBody>
      </p:sp>
      <p:sp>
        <p:nvSpPr>
          <p:cNvPr id="17" name="Rounded Rectangle 16"/>
          <p:cNvSpPr/>
          <p:nvPr/>
        </p:nvSpPr>
        <p:spPr>
          <a:xfrm>
            <a:off x="8275320" y="1207008"/>
            <a:ext cx="3657600" cy="5102352"/>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05-interactive-safe-map.jpg"/>
          <p:cNvPicPr>
            <a:picLocks noChangeAspect="1"/>
          </p:cNvPicPr>
          <p:nvPr/>
        </p:nvPicPr>
        <p:blipFill>
          <a:blip r:embed="rId5"/>
          <a:stretch>
            <a:fillRect/>
          </a:stretch>
        </p:blipFill>
        <p:spPr>
          <a:xfrm>
            <a:off x="9052560" y="1335024"/>
            <a:ext cx="2103120" cy="3712463"/>
          </a:xfrm>
          <a:prstGeom prst="rect">
            <a:avLst/>
          </a:prstGeom>
        </p:spPr>
      </p:pic>
      <p:sp>
        <p:nvSpPr>
          <p:cNvPr id="19" name="TextBox 18"/>
          <p:cNvSpPr txBox="1"/>
          <p:nvPr/>
        </p:nvSpPr>
        <p:spPr>
          <a:xfrm>
            <a:off x="8421624" y="5138928"/>
            <a:ext cx="3364992" cy="292608"/>
          </a:xfrm>
          <a:prstGeom prst="rect">
            <a:avLst/>
          </a:prstGeom>
          <a:noFill/>
        </p:spPr>
        <p:txBody>
          <a:bodyPr wrap="square" anchor="t"/>
          <a:lstStyle/>
          <a:p>
            <a:pPr algn="ctr"/>
            <a:r>
              <a:rPr sz="1400" b="1">
                <a:solidFill>
                  <a:srgbClr val="F8FAFC"/>
                </a:solidFill>
                <a:latin typeface="Calibri"/>
              </a:rPr>
              <a:t>Interactive Safe Map</a:t>
            </a:r>
          </a:p>
        </p:txBody>
      </p:sp>
      <p:sp>
        <p:nvSpPr>
          <p:cNvPr id="20" name="TextBox 19"/>
          <p:cNvSpPr txBox="1"/>
          <p:nvPr/>
        </p:nvSpPr>
        <p:spPr>
          <a:xfrm>
            <a:off x="8421624" y="5431536"/>
            <a:ext cx="3364992" cy="658368"/>
          </a:xfrm>
          <a:prstGeom prst="rect">
            <a:avLst/>
          </a:prstGeom>
          <a:noFill/>
        </p:spPr>
        <p:txBody>
          <a:bodyPr wrap="square" anchor="t"/>
          <a:lstStyle/>
          <a:p>
            <a:pPr algn="ctr"/>
            <a:r>
              <a:rPr sz="1200" b="0">
                <a:solidFill>
                  <a:srgbClr val="94A3B8"/>
                </a:solidFill>
                <a:latin typeface="Calibri"/>
              </a:rPr>
              <a:t>Pulsing hazard pins, detours, and open-shelter paths.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01968"/>
            <a:ext cx="12191695" cy="256032"/>
          </a:xfrm>
          <a:prstGeom prst="rect">
            <a:avLst/>
          </a:prstGeom>
          <a:solidFill>
            <a:srgbClr val="080E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11338560" cy="256032"/>
          </a:xfrm>
          <a:prstGeom prst="rect">
            <a:avLst/>
          </a:prstGeom>
          <a:noFill/>
        </p:spPr>
        <p:txBody>
          <a:bodyPr wrap="square" anchor="t"/>
          <a:lstStyle/>
          <a:p>
            <a:pPr algn="l"/>
            <a:r>
              <a:rPr sz="1100" b="1">
                <a:solidFill>
                  <a:srgbClr val="22D3EE"/>
                </a:solidFill>
                <a:latin typeface="Calibri"/>
              </a:rPr>
              <a:t>LIVE PLATFORM TOUR  ·  SCREEN 3</a:t>
            </a:r>
          </a:p>
        </p:txBody>
      </p:sp>
      <p:sp>
        <p:nvSpPr>
          <p:cNvPr id="5" name="TextBox 4"/>
          <p:cNvSpPr txBox="1"/>
          <p:nvPr/>
        </p:nvSpPr>
        <p:spPr>
          <a:xfrm>
            <a:off x="411480" y="384048"/>
            <a:ext cx="11338560" cy="438912"/>
          </a:xfrm>
          <a:prstGeom prst="rect">
            <a:avLst/>
          </a:prstGeom>
          <a:noFill/>
        </p:spPr>
        <p:txBody>
          <a:bodyPr wrap="square" anchor="t"/>
          <a:lstStyle/>
          <a:p>
            <a:pPr algn="l"/>
            <a:r>
              <a:rPr sz="2600" b="1">
                <a:solidFill>
                  <a:srgbClr val="F8FAFC"/>
                </a:solidFill>
                <a:latin typeface="Calibri"/>
              </a:rPr>
              <a:t>Field Crew Dispatch &amp; Anti-Ghost Verification</a:t>
            </a:r>
          </a:p>
        </p:txBody>
      </p:sp>
      <p:sp>
        <p:nvSpPr>
          <p:cNvPr id="6" name="TextBox 5"/>
          <p:cNvSpPr txBox="1"/>
          <p:nvPr/>
        </p:nvSpPr>
        <p:spPr>
          <a:xfrm>
            <a:off x="411480" y="804672"/>
            <a:ext cx="11338560" cy="292608"/>
          </a:xfrm>
          <a:prstGeom prst="rect">
            <a:avLst/>
          </a:prstGeom>
          <a:noFill/>
        </p:spPr>
        <p:txBody>
          <a:bodyPr wrap="square" anchor="t"/>
          <a:lstStyle/>
          <a:p>
            <a:pPr algn="l"/>
            <a:r>
              <a:rPr sz="1300" b="0">
                <a:solidFill>
                  <a:srgbClr val="94A3B8"/>
                </a:solidFill>
                <a:latin typeface="Calibri"/>
              </a:rPr>
              <a:t>Tickets cannot close until a live after-fix photo proves the road is clear</a:t>
            </a:r>
          </a:p>
        </p:txBody>
      </p:sp>
      <p:sp>
        <p:nvSpPr>
          <p:cNvPr id="7" name="TextBox 6"/>
          <p:cNvSpPr txBox="1"/>
          <p:nvPr/>
        </p:nvSpPr>
        <p:spPr>
          <a:xfrm>
            <a:off x="365760" y="6620256"/>
            <a:ext cx="5486400" cy="219456"/>
          </a:xfrm>
          <a:prstGeom prst="rect">
            <a:avLst/>
          </a:prstGeom>
          <a:noFill/>
        </p:spPr>
        <p:txBody>
          <a:bodyPr wrap="square" anchor="t"/>
          <a:lstStyle/>
          <a:p>
            <a:pPr algn="l"/>
            <a:r>
              <a:rPr sz="900" b="0">
                <a:solidFill>
                  <a:srgbClr val="94A3B8"/>
                </a:solidFill>
                <a:latin typeface="Calibri"/>
              </a:rPr>
              <a:t>FENDER  ·  CodeArena '26  ·  Topic 04: Disaster Response</a:t>
            </a:r>
          </a:p>
        </p:txBody>
      </p:sp>
      <p:sp>
        <p:nvSpPr>
          <p:cNvPr id="8" name="TextBox 7"/>
          <p:cNvSpPr txBox="1"/>
          <p:nvPr/>
        </p:nvSpPr>
        <p:spPr>
          <a:xfrm>
            <a:off x="9692640" y="6620256"/>
            <a:ext cx="2103120" cy="219456"/>
          </a:xfrm>
          <a:prstGeom prst="rect">
            <a:avLst/>
          </a:prstGeom>
          <a:noFill/>
        </p:spPr>
        <p:txBody>
          <a:bodyPr wrap="square" anchor="t"/>
          <a:lstStyle/>
          <a:p>
            <a:pPr algn="r"/>
            <a:r>
              <a:rPr sz="900" b="0">
                <a:solidFill>
                  <a:srgbClr val="94A3B8"/>
                </a:solidFill>
                <a:latin typeface="Calibri"/>
              </a:rPr>
              <a:t>7  /  10</a:t>
            </a:r>
          </a:p>
        </p:txBody>
      </p:sp>
      <p:sp>
        <p:nvSpPr>
          <p:cNvPr id="9" name="Rounded Rectangle 8"/>
          <p:cNvSpPr/>
          <p:nvPr/>
        </p:nvSpPr>
        <p:spPr>
          <a:xfrm>
            <a:off x="411480" y="1207008"/>
            <a:ext cx="4160520" cy="5102352"/>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3-field-crew-hub.jpg"/>
          <p:cNvPicPr>
            <a:picLocks noChangeAspect="1"/>
          </p:cNvPicPr>
          <p:nvPr/>
        </p:nvPicPr>
        <p:blipFill>
          <a:blip r:embed="rId3"/>
          <a:stretch>
            <a:fillRect/>
          </a:stretch>
        </p:blipFill>
        <p:spPr>
          <a:xfrm>
            <a:off x="1115568" y="1353312"/>
            <a:ext cx="2743200" cy="4809744"/>
          </a:xfrm>
          <a:prstGeom prst="rect">
            <a:avLst/>
          </a:prstGeom>
        </p:spPr>
      </p:pic>
      <p:sp>
        <p:nvSpPr>
          <p:cNvPr id="11" name="Rounded Rectangle 10"/>
          <p:cNvSpPr/>
          <p:nvPr/>
        </p:nvSpPr>
        <p:spPr>
          <a:xfrm>
            <a:off x="4754880" y="1207008"/>
            <a:ext cx="7040880" cy="1152144"/>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974336" y="1335024"/>
            <a:ext cx="6656832" cy="292608"/>
          </a:xfrm>
          <a:prstGeom prst="rect">
            <a:avLst/>
          </a:prstGeom>
          <a:noFill/>
        </p:spPr>
        <p:txBody>
          <a:bodyPr wrap="square" anchor="t"/>
          <a:lstStyle/>
          <a:p>
            <a:pPr algn="l"/>
            <a:r>
              <a:rPr sz="1600" b="1">
                <a:solidFill>
                  <a:srgbClr val="F59E0B"/>
                </a:solidFill>
                <a:latin typeface="Calibri"/>
              </a:rPr>
              <a:t>Multi-agency dispatch</a:t>
            </a:r>
          </a:p>
        </p:txBody>
      </p:sp>
      <p:sp>
        <p:nvSpPr>
          <p:cNvPr id="13" name="TextBox 12"/>
          <p:cNvSpPr txBox="1"/>
          <p:nvPr/>
        </p:nvSpPr>
        <p:spPr>
          <a:xfrm>
            <a:off x="4974336" y="1664208"/>
            <a:ext cx="6656832" cy="566928"/>
          </a:xfrm>
          <a:prstGeom prst="rect">
            <a:avLst/>
          </a:prstGeom>
          <a:noFill/>
        </p:spPr>
        <p:txBody>
          <a:bodyPr wrap="square" anchor="t"/>
          <a:lstStyle/>
          <a:p>
            <a:pPr algn="l"/>
            <a:r>
              <a:rPr sz="1300" b="0">
                <a:solidFill>
                  <a:srgbClr val="CBD5E1"/>
                </a:solidFill>
                <a:latin typeface="Calibri"/>
              </a:rPr>
              <a:t>Built for Sri Lanka Navy rescue boats, DMC crews, and CMC tree-clearing engineers.</a:t>
            </a:r>
          </a:p>
        </p:txBody>
      </p:sp>
      <p:sp>
        <p:nvSpPr>
          <p:cNvPr id="14" name="Rounded Rectangle 13"/>
          <p:cNvSpPr/>
          <p:nvPr/>
        </p:nvSpPr>
        <p:spPr>
          <a:xfrm>
            <a:off x="4754880" y="2468880"/>
            <a:ext cx="7040880" cy="1152144"/>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74336" y="2596896"/>
            <a:ext cx="6656832" cy="292608"/>
          </a:xfrm>
          <a:prstGeom prst="rect">
            <a:avLst/>
          </a:prstGeom>
          <a:noFill/>
        </p:spPr>
        <p:txBody>
          <a:bodyPr wrap="square" anchor="t"/>
          <a:lstStyle/>
          <a:p>
            <a:pPr algn="l"/>
            <a:r>
              <a:rPr sz="1600" b="1">
                <a:solidFill>
                  <a:srgbClr val="22D3EE"/>
                </a:solidFill>
                <a:latin typeface="Calibri"/>
              </a:rPr>
              <a:t>Zero-trust closure</a:t>
            </a:r>
          </a:p>
        </p:txBody>
      </p:sp>
      <p:sp>
        <p:nvSpPr>
          <p:cNvPr id="16" name="TextBox 15"/>
          <p:cNvSpPr txBox="1"/>
          <p:nvPr/>
        </p:nvSpPr>
        <p:spPr>
          <a:xfrm>
            <a:off x="4974336" y="2926080"/>
            <a:ext cx="6656832" cy="566928"/>
          </a:xfrm>
          <a:prstGeom prst="rect">
            <a:avLst/>
          </a:prstGeom>
          <a:noFill/>
        </p:spPr>
        <p:txBody>
          <a:bodyPr wrap="square" anchor="t"/>
          <a:lstStyle/>
          <a:p>
            <a:pPr algn="l"/>
            <a:r>
              <a:rPr sz="1300" b="0">
                <a:solidFill>
                  <a:srgbClr val="CBD5E1"/>
                </a:solidFill>
                <a:latin typeface="Calibri"/>
              </a:rPr>
              <a:t>The Resolve button stays locked until a timestamped, GPS-stamped after-fix photo is uploaded.</a:t>
            </a:r>
          </a:p>
        </p:txBody>
      </p:sp>
      <p:sp>
        <p:nvSpPr>
          <p:cNvPr id="17" name="Rounded Rectangle 16"/>
          <p:cNvSpPr/>
          <p:nvPr/>
        </p:nvSpPr>
        <p:spPr>
          <a:xfrm>
            <a:off x="4754880" y="3730752"/>
            <a:ext cx="7040880" cy="1152144"/>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974336" y="3858768"/>
            <a:ext cx="6656832" cy="292608"/>
          </a:xfrm>
          <a:prstGeom prst="rect">
            <a:avLst/>
          </a:prstGeom>
          <a:noFill/>
        </p:spPr>
        <p:txBody>
          <a:bodyPr wrap="square" anchor="t"/>
          <a:lstStyle/>
          <a:p>
            <a:pPr algn="l"/>
            <a:r>
              <a:rPr sz="1600" b="1">
                <a:solidFill>
                  <a:srgbClr val="10B981"/>
                </a:solidFill>
                <a:latin typeface="Calibri"/>
              </a:rPr>
              <a:t>Instant cascade</a:t>
            </a:r>
          </a:p>
        </p:txBody>
      </p:sp>
      <p:sp>
        <p:nvSpPr>
          <p:cNvPr id="19" name="TextBox 18"/>
          <p:cNvSpPr txBox="1"/>
          <p:nvPr/>
        </p:nvSpPr>
        <p:spPr>
          <a:xfrm>
            <a:off x="4974336" y="4187952"/>
            <a:ext cx="6656832" cy="566928"/>
          </a:xfrm>
          <a:prstGeom prst="rect">
            <a:avLst/>
          </a:prstGeom>
          <a:noFill/>
        </p:spPr>
        <p:txBody>
          <a:bodyPr wrap="square" anchor="t"/>
          <a:lstStyle/>
          <a:p>
            <a:pPr algn="l"/>
            <a:r>
              <a:rPr sz="1300" b="0">
                <a:solidFill>
                  <a:srgbClr val="CBD5E1"/>
                </a:solidFill>
                <a:latin typeface="Calibri"/>
              </a:rPr>
              <a:t>Supabase Realtime flips is_road_blocked = false. Public map pins go green in milliseconds.</a:t>
            </a:r>
          </a:p>
        </p:txBody>
      </p:sp>
      <p:sp>
        <p:nvSpPr>
          <p:cNvPr id="20" name="Rounded Rectangle 19"/>
          <p:cNvSpPr/>
          <p:nvPr/>
        </p:nvSpPr>
        <p:spPr>
          <a:xfrm>
            <a:off x="4754880" y="4992624"/>
            <a:ext cx="7040880" cy="1152144"/>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74336" y="5120640"/>
            <a:ext cx="6656832" cy="292608"/>
          </a:xfrm>
          <a:prstGeom prst="rect">
            <a:avLst/>
          </a:prstGeom>
          <a:noFill/>
        </p:spPr>
        <p:txBody>
          <a:bodyPr wrap="square" anchor="t"/>
          <a:lstStyle/>
          <a:p>
            <a:pPr algn="l"/>
            <a:r>
              <a:rPr sz="1600" b="1">
                <a:solidFill>
                  <a:srgbClr val="3B82F6"/>
                </a:solidFill>
                <a:latin typeface="Calibri"/>
              </a:rPr>
              <a:t>Turn-by-turn routing</a:t>
            </a:r>
          </a:p>
        </p:txBody>
      </p:sp>
      <p:sp>
        <p:nvSpPr>
          <p:cNvPr id="22" name="TextBox 21"/>
          <p:cNvSpPr txBox="1"/>
          <p:nvPr/>
        </p:nvSpPr>
        <p:spPr>
          <a:xfrm>
            <a:off x="4974336" y="5449824"/>
            <a:ext cx="6656832" cy="566928"/>
          </a:xfrm>
          <a:prstGeom prst="rect">
            <a:avLst/>
          </a:prstGeom>
          <a:noFill/>
        </p:spPr>
        <p:txBody>
          <a:bodyPr wrap="square" anchor="t"/>
          <a:lstStyle/>
          <a:p>
            <a:pPr algn="l"/>
            <a:r>
              <a:rPr sz="1300" b="0">
                <a:solidFill>
                  <a:srgbClr val="CBD5E1"/>
                </a:solidFill>
                <a:latin typeface="Calibri"/>
              </a:rPr>
              <a:t>One tap opens navigation to the exact incident coordinates — no radio guesswork.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01968"/>
            <a:ext cx="12191695" cy="256032"/>
          </a:xfrm>
          <a:prstGeom prst="rect">
            <a:avLst/>
          </a:prstGeom>
          <a:solidFill>
            <a:srgbClr val="080E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11338560" cy="256032"/>
          </a:xfrm>
          <a:prstGeom prst="rect">
            <a:avLst/>
          </a:prstGeom>
          <a:noFill/>
        </p:spPr>
        <p:txBody>
          <a:bodyPr wrap="square" anchor="t"/>
          <a:lstStyle/>
          <a:p>
            <a:pPr algn="l"/>
            <a:r>
              <a:rPr sz="1100" b="1">
                <a:solidFill>
                  <a:srgbClr val="22D3EE"/>
                </a:solidFill>
                <a:latin typeface="Calibri"/>
              </a:rPr>
              <a:t>LIVE PLATFORM TOUR  ·  SCREEN 4</a:t>
            </a:r>
          </a:p>
        </p:txBody>
      </p:sp>
      <p:sp>
        <p:nvSpPr>
          <p:cNvPr id="5" name="TextBox 4"/>
          <p:cNvSpPr txBox="1"/>
          <p:nvPr/>
        </p:nvSpPr>
        <p:spPr>
          <a:xfrm>
            <a:off x="411480" y="384048"/>
            <a:ext cx="11338560" cy="438912"/>
          </a:xfrm>
          <a:prstGeom prst="rect">
            <a:avLst/>
          </a:prstGeom>
          <a:noFill/>
        </p:spPr>
        <p:txBody>
          <a:bodyPr wrap="square" anchor="t"/>
          <a:lstStyle/>
          <a:p>
            <a:pPr algn="l"/>
            <a:r>
              <a:rPr sz="2600" b="1">
                <a:solidFill>
                  <a:srgbClr val="F8FAFC"/>
                </a:solidFill>
                <a:latin typeface="Calibri"/>
              </a:rPr>
              <a:t>Humanitarian Relief &amp; Family Reunification</a:t>
            </a:r>
          </a:p>
        </p:txBody>
      </p:sp>
      <p:sp>
        <p:nvSpPr>
          <p:cNvPr id="6" name="TextBox 5"/>
          <p:cNvSpPr txBox="1"/>
          <p:nvPr/>
        </p:nvSpPr>
        <p:spPr>
          <a:xfrm>
            <a:off x="411480" y="804672"/>
            <a:ext cx="11338560" cy="292608"/>
          </a:xfrm>
          <a:prstGeom prst="rect">
            <a:avLst/>
          </a:prstGeom>
          <a:noFill/>
        </p:spPr>
        <p:txBody>
          <a:bodyPr wrap="square" anchor="t"/>
          <a:lstStyle/>
          <a:p>
            <a:pPr algn="l"/>
            <a:r>
              <a:rPr sz="1300" b="0">
                <a:solidFill>
                  <a:srgbClr val="94A3B8"/>
                </a:solidFill>
                <a:latin typeface="Calibri"/>
              </a:rPr>
              <a:t>Live shelter vacancy, medical matching, and the I'm Safe public registry</a:t>
            </a:r>
          </a:p>
        </p:txBody>
      </p:sp>
      <p:sp>
        <p:nvSpPr>
          <p:cNvPr id="7" name="TextBox 6"/>
          <p:cNvSpPr txBox="1"/>
          <p:nvPr/>
        </p:nvSpPr>
        <p:spPr>
          <a:xfrm>
            <a:off x="365760" y="6620256"/>
            <a:ext cx="5486400" cy="219456"/>
          </a:xfrm>
          <a:prstGeom prst="rect">
            <a:avLst/>
          </a:prstGeom>
          <a:noFill/>
        </p:spPr>
        <p:txBody>
          <a:bodyPr wrap="square" anchor="t"/>
          <a:lstStyle/>
          <a:p>
            <a:pPr algn="l"/>
            <a:r>
              <a:rPr sz="900" b="0">
                <a:solidFill>
                  <a:srgbClr val="94A3B8"/>
                </a:solidFill>
                <a:latin typeface="Calibri"/>
              </a:rPr>
              <a:t>FENDER  ·  CodeArena '26  ·  Topic 04: Disaster Response</a:t>
            </a:r>
          </a:p>
        </p:txBody>
      </p:sp>
      <p:sp>
        <p:nvSpPr>
          <p:cNvPr id="8" name="TextBox 7"/>
          <p:cNvSpPr txBox="1"/>
          <p:nvPr/>
        </p:nvSpPr>
        <p:spPr>
          <a:xfrm>
            <a:off x="9692640" y="6620256"/>
            <a:ext cx="2103120" cy="219456"/>
          </a:xfrm>
          <a:prstGeom prst="rect">
            <a:avLst/>
          </a:prstGeom>
          <a:noFill/>
        </p:spPr>
        <p:txBody>
          <a:bodyPr wrap="square" anchor="t"/>
          <a:lstStyle/>
          <a:p>
            <a:pPr algn="r"/>
            <a:r>
              <a:rPr sz="900" b="0">
                <a:solidFill>
                  <a:srgbClr val="94A3B8"/>
                </a:solidFill>
                <a:latin typeface="Calibri"/>
              </a:rPr>
              <a:t>8  /  10</a:t>
            </a:r>
          </a:p>
        </p:txBody>
      </p:sp>
      <p:sp>
        <p:nvSpPr>
          <p:cNvPr id="9" name="Rounded Rectangle 8"/>
          <p:cNvSpPr/>
          <p:nvPr/>
        </p:nvSpPr>
        <p:spPr>
          <a:xfrm>
            <a:off x="365760" y="1207008"/>
            <a:ext cx="2926080" cy="5102352"/>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4-relief-shelter-hub.jpg"/>
          <p:cNvPicPr>
            <a:picLocks noChangeAspect="1"/>
          </p:cNvPicPr>
          <p:nvPr/>
        </p:nvPicPr>
        <p:blipFill>
          <a:blip r:embed="rId3"/>
          <a:stretch>
            <a:fillRect/>
          </a:stretch>
        </p:blipFill>
        <p:spPr>
          <a:xfrm>
            <a:off x="731520" y="1335024"/>
            <a:ext cx="2194560" cy="4480560"/>
          </a:xfrm>
          <a:prstGeom prst="rect">
            <a:avLst/>
          </a:prstGeom>
        </p:spPr>
      </p:pic>
      <p:sp>
        <p:nvSpPr>
          <p:cNvPr id="11" name="TextBox 10"/>
          <p:cNvSpPr txBox="1"/>
          <p:nvPr/>
        </p:nvSpPr>
        <p:spPr>
          <a:xfrm>
            <a:off x="365760" y="5870448"/>
            <a:ext cx="2926080" cy="292608"/>
          </a:xfrm>
          <a:prstGeom prst="rect">
            <a:avLst/>
          </a:prstGeom>
          <a:noFill/>
        </p:spPr>
        <p:txBody>
          <a:bodyPr wrap="square" anchor="t"/>
          <a:lstStyle/>
          <a:p>
            <a:pPr algn="ctr"/>
            <a:r>
              <a:rPr sz="1200" b="1">
                <a:solidFill>
                  <a:srgbClr val="22D3EE"/>
                </a:solidFill>
                <a:latin typeface="Calibri"/>
              </a:rPr>
              <a:t>Shelter Hub</a:t>
            </a:r>
          </a:p>
        </p:txBody>
      </p:sp>
      <p:sp>
        <p:nvSpPr>
          <p:cNvPr id="12" name="Rounded Rectangle 11"/>
          <p:cNvSpPr/>
          <p:nvPr/>
        </p:nvSpPr>
        <p:spPr>
          <a:xfrm>
            <a:off x="3429000" y="1207008"/>
            <a:ext cx="2926080" cy="5102352"/>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06-evacuee-safety-registry.jpg"/>
          <p:cNvPicPr>
            <a:picLocks noChangeAspect="1"/>
          </p:cNvPicPr>
          <p:nvPr/>
        </p:nvPicPr>
        <p:blipFill>
          <a:blip r:embed="rId4"/>
          <a:stretch>
            <a:fillRect/>
          </a:stretch>
        </p:blipFill>
        <p:spPr>
          <a:xfrm>
            <a:off x="3794760" y="1335024"/>
            <a:ext cx="2194560" cy="4480560"/>
          </a:xfrm>
          <a:prstGeom prst="rect">
            <a:avLst/>
          </a:prstGeom>
        </p:spPr>
      </p:pic>
      <p:sp>
        <p:nvSpPr>
          <p:cNvPr id="14" name="TextBox 13"/>
          <p:cNvSpPr txBox="1"/>
          <p:nvPr/>
        </p:nvSpPr>
        <p:spPr>
          <a:xfrm>
            <a:off x="3429000" y="5870448"/>
            <a:ext cx="2926080" cy="292608"/>
          </a:xfrm>
          <a:prstGeom prst="rect">
            <a:avLst/>
          </a:prstGeom>
          <a:noFill/>
        </p:spPr>
        <p:txBody>
          <a:bodyPr wrap="square" anchor="t"/>
          <a:lstStyle/>
          <a:p>
            <a:pPr algn="ctr"/>
            <a:r>
              <a:rPr sz="1200" b="1">
                <a:solidFill>
                  <a:srgbClr val="22D3EE"/>
                </a:solidFill>
                <a:latin typeface="Calibri"/>
              </a:rPr>
              <a:t>I'm Safe Registry</a:t>
            </a:r>
          </a:p>
        </p:txBody>
      </p:sp>
      <p:sp>
        <p:nvSpPr>
          <p:cNvPr id="15" name="Rounded Rectangle 14"/>
          <p:cNvSpPr/>
          <p:nvPr/>
        </p:nvSpPr>
        <p:spPr>
          <a:xfrm>
            <a:off x="6537960" y="1207008"/>
            <a:ext cx="5257800" cy="1152144"/>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20840" y="1316736"/>
            <a:ext cx="4919472" cy="292608"/>
          </a:xfrm>
          <a:prstGeom prst="rect">
            <a:avLst/>
          </a:prstGeom>
          <a:noFill/>
        </p:spPr>
        <p:txBody>
          <a:bodyPr wrap="square" anchor="t"/>
          <a:lstStyle/>
          <a:p>
            <a:pPr algn="l"/>
            <a:r>
              <a:rPr sz="1400" b="1">
                <a:solidFill>
                  <a:srgbClr val="10B981"/>
                </a:solidFill>
                <a:latin typeface="Calibri"/>
              </a:rPr>
              <a:t>Live bed &amp; supply telemetry</a:t>
            </a:r>
          </a:p>
        </p:txBody>
      </p:sp>
      <p:sp>
        <p:nvSpPr>
          <p:cNvPr id="17" name="TextBox 16"/>
          <p:cNvSpPr txBox="1"/>
          <p:nvPr/>
        </p:nvSpPr>
        <p:spPr>
          <a:xfrm>
            <a:off x="6720840" y="1627632"/>
            <a:ext cx="4919472" cy="621792"/>
          </a:xfrm>
          <a:prstGeom prst="rect">
            <a:avLst/>
          </a:prstGeom>
          <a:noFill/>
        </p:spPr>
        <p:txBody>
          <a:bodyPr wrap="square" anchor="t"/>
          <a:lstStyle/>
          <a:p>
            <a:pPr algn="l"/>
            <a:r>
              <a:rPr sz="1200" b="0">
                <a:solidFill>
                  <a:srgbClr val="CBD5E1"/>
                </a:solidFill>
                <a:latin typeface="Calibri"/>
              </a:rPr>
              <a:t>Track free beds and meals across Colombo camps — St. Anthony's, Sedawatta Temple, Thimbirigasyaya School — before overflow.</a:t>
            </a:r>
          </a:p>
        </p:txBody>
      </p:sp>
      <p:sp>
        <p:nvSpPr>
          <p:cNvPr id="18" name="Rounded Rectangle 17"/>
          <p:cNvSpPr/>
          <p:nvPr/>
        </p:nvSpPr>
        <p:spPr>
          <a:xfrm>
            <a:off x="6537960" y="2468880"/>
            <a:ext cx="5257800" cy="1152144"/>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20840" y="2578608"/>
            <a:ext cx="4919472" cy="292608"/>
          </a:xfrm>
          <a:prstGeom prst="rect">
            <a:avLst/>
          </a:prstGeom>
          <a:noFill/>
        </p:spPr>
        <p:txBody>
          <a:bodyPr wrap="square" anchor="t"/>
          <a:lstStyle/>
          <a:p>
            <a:pPr algn="l"/>
            <a:r>
              <a:rPr sz="1400" b="1">
                <a:solidFill>
                  <a:srgbClr val="3B82F6"/>
                </a:solidFill>
                <a:latin typeface="Calibri"/>
              </a:rPr>
              <a:t>I'm Safe family registry</a:t>
            </a:r>
          </a:p>
        </p:txBody>
      </p:sp>
      <p:sp>
        <p:nvSpPr>
          <p:cNvPr id="20" name="TextBox 19"/>
          <p:cNvSpPr txBox="1"/>
          <p:nvPr/>
        </p:nvSpPr>
        <p:spPr>
          <a:xfrm>
            <a:off x="6720840" y="2889504"/>
            <a:ext cx="4919472" cy="621792"/>
          </a:xfrm>
          <a:prstGeom prst="rect">
            <a:avLst/>
          </a:prstGeom>
          <a:noFill/>
        </p:spPr>
        <p:txBody>
          <a:bodyPr wrap="square" anchor="t"/>
          <a:lstStyle/>
          <a:p>
            <a:pPr algn="l"/>
            <a:r>
              <a:rPr sz="1200" b="0">
                <a:solidFill>
                  <a:srgbClr val="CBD5E1"/>
                </a:solidFill>
                <a:latin typeface="Calibri"/>
              </a:rPr>
              <a:t>Evacuees check in in 30 seconds. Relatives search by name, NIC, or phone from anywhere in the world.</a:t>
            </a:r>
          </a:p>
        </p:txBody>
      </p:sp>
      <p:sp>
        <p:nvSpPr>
          <p:cNvPr id="21" name="Rounded Rectangle 20"/>
          <p:cNvSpPr/>
          <p:nvPr/>
        </p:nvSpPr>
        <p:spPr>
          <a:xfrm>
            <a:off x="6537960" y="3730752"/>
            <a:ext cx="5257800" cy="1152144"/>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20840" y="3840480"/>
            <a:ext cx="4919472" cy="292608"/>
          </a:xfrm>
          <a:prstGeom prst="rect">
            <a:avLst/>
          </a:prstGeom>
          <a:noFill/>
        </p:spPr>
        <p:txBody>
          <a:bodyPr wrap="square" anchor="t"/>
          <a:lstStyle/>
          <a:p>
            <a:pPr algn="l"/>
            <a:r>
              <a:rPr sz="1400" b="1">
                <a:solidFill>
                  <a:srgbClr val="C084FC"/>
                </a:solidFill>
                <a:latin typeface="Calibri"/>
              </a:rPr>
              <a:t>Vulnerability matching</a:t>
            </a:r>
          </a:p>
        </p:txBody>
      </p:sp>
      <p:sp>
        <p:nvSpPr>
          <p:cNvPr id="23" name="TextBox 22"/>
          <p:cNvSpPr txBox="1"/>
          <p:nvPr/>
        </p:nvSpPr>
        <p:spPr>
          <a:xfrm>
            <a:off x="6720840" y="4151376"/>
            <a:ext cx="4919472" cy="621792"/>
          </a:xfrm>
          <a:prstGeom prst="rect">
            <a:avLst/>
          </a:prstGeom>
          <a:noFill/>
        </p:spPr>
        <p:txBody>
          <a:bodyPr wrap="square" anchor="t"/>
          <a:lstStyle/>
          <a:p>
            <a:pPr algn="l"/>
            <a:r>
              <a:rPr sz="1200" b="0">
                <a:solidFill>
                  <a:srgbClr val="CBD5E1"/>
                </a:solidFill>
                <a:latin typeface="Calibri"/>
              </a:rPr>
              <a:t>Prioritize insulin, dialysis, oxygen, infant formula, and wheelchair needs for NGO and medical teams.</a:t>
            </a:r>
          </a:p>
        </p:txBody>
      </p:sp>
      <p:sp>
        <p:nvSpPr>
          <p:cNvPr id="24" name="Rounded Rectangle 23"/>
          <p:cNvSpPr/>
          <p:nvPr/>
        </p:nvSpPr>
        <p:spPr>
          <a:xfrm>
            <a:off x="6537960" y="4992624"/>
            <a:ext cx="5257800" cy="1152144"/>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720840" y="5102352"/>
            <a:ext cx="4919472" cy="292608"/>
          </a:xfrm>
          <a:prstGeom prst="rect">
            <a:avLst/>
          </a:prstGeom>
          <a:noFill/>
        </p:spPr>
        <p:txBody>
          <a:bodyPr wrap="square" anchor="t"/>
          <a:lstStyle/>
          <a:p>
            <a:pPr algn="l"/>
            <a:r>
              <a:rPr sz="1400" b="1">
                <a:solidFill>
                  <a:srgbClr val="22D3EE"/>
                </a:solidFill>
                <a:latin typeface="Calibri"/>
              </a:rPr>
              <a:t>Privacy by design</a:t>
            </a:r>
          </a:p>
        </p:txBody>
      </p:sp>
      <p:sp>
        <p:nvSpPr>
          <p:cNvPr id="26" name="TextBox 25"/>
          <p:cNvSpPr txBox="1"/>
          <p:nvPr/>
        </p:nvSpPr>
        <p:spPr>
          <a:xfrm>
            <a:off x="6720840" y="5413248"/>
            <a:ext cx="4919472" cy="621792"/>
          </a:xfrm>
          <a:prstGeom prst="rect">
            <a:avLst/>
          </a:prstGeom>
          <a:noFill/>
        </p:spPr>
        <p:txBody>
          <a:bodyPr wrap="square" anchor="t"/>
          <a:lstStyle/>
          <a:p>
            <a:pPr algn="l"/>
            <a:r>
              <a:rPr sz="1200" b="0">
                <a:solidFill>
                  <a:srgbClr val="CBD5E1"/>
                </a:solidFill>
                <a:latin typeface="Calibri"/>
              </a:rPr>
              <a:t>Public view shows name + shelter + status. NIC, phone, and medical notes stay hashed and search-gated.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01968"/>
            <a:ext cx="12191695" cy="256032"/>
          </a:xfrm>
          <a:prstGeom prst="rect">
            <a:avLst/>
          </a:prstGeom>
          <a:solidFill>
            <a:srgbClr val="080E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11338560" cy="256032"/>
          </a:xfrm>
          <a:prstGeom prst="rect">
            <a:avLst/>
          </a:prstGeom>
          <a:noFill/>
        </p:spPr>
        <p:txBody>
          <a:bodyPr wrap="square" anchor="t"/>
          <a:lstStyle/>
          <a:p>
            <a:pPr algn="l"/>
            <a:r>
              <a:rPr sz="1100" b="1">
                <a:solidFill>
                  <a:srgbClr val="22D3EE"/>
                </a:solidFill>
                <a:latin typeface="Calibri"/>
              </a:rPr>
              <a:t>TECHNICAL EXCELLENCE &amp; REAL-WORLD IMPACT</a:t>
            </a:r>
          </a:p>
        </p:txBody>
      </p:sp>
      <p:sp>
        <p:nvSpPr>
          <p:cNvPr id="5" name="TextBox 4"/>
          <p:cNvSpPr txBox="1"/>
          <p:nvPr/>
        </p:nvSpPr>
        <p:spPr>
          <a:xfrm>
            <a:off x="411480" y="384048"/>
            <a:ext cx="11338560" cy="438912"/>
          </a:xfrm>
          <a:prstGeom prst="rect">
            <a:avLst/>
          </a:prstGeom>
          <a:noFill/>
        </p:spPr>
        <p:txBody>
          <a:bodyPr wrap="square" anchor="t"/>
          <a:lstStyle/>
          <a:p>
            <a:pPr algn="l"/>
            <a:r>
              <a:rPr sz="2600" b="1">
                <a:solidFill>
                  <a:srgbClr val="F8FAFC"/>
                </a:solidFill>
                <a:latin typeface="Calibri"/>
              </a:rPr>
              <a:t>Measurable Impact &amp; Production Architecture</a:t>
            </a:r>
          </a:p>
        </p:txBody>
      </p:sp>
      <p:sp>
        <p:nvSpPr>
          <p:cNvPr id="6" name="TextBox 5"/>
          <p:cNvSpPr txBox="1"/>
          <p:nvPr/>
        </p:nvSpPr>
        <p:spPr>
          <a:xfrm>
            <a:off x="411480" y="804672"/>
            <a:ext cx="11338560" cy="292608"/>
          </a:xfrm>
          <a:prstGeom prst="rect">
            <a:avLst/>
          </a:prstGeom>
          <a:noFill/>
        </p:spPr>
        <p:txBody>
          <a:bodyPr wrap="square" anchor="t"/>
          <a:lstStyle/>
          <a:p>
            <a:pPr algn="l"/>
            <a:r>
              <a:rPr sz="1300" b="0">
                <a:solidFill>
                  <a:srgbClr val="94A3B8"/>
                </a:solidFill>
                <a:latin typeface="Calibri"/>
              </a:rPr>
              <a:t>Built to scale under catastrophic load — not a mockup, live on Vercel</a:t>
            </a:r>
          </a:p>
        </p:txBody>
      </p:sp>
      <p:sp>
        <p:nvSpPr>
          <p:cNvPr id="7" name="TextBox 6"/>
          <p:cNvSpPr txBox="1"/>
          <p:nvPr/>
        </p:nvSpPr>
        <p:spPr>
          <a:xfrm>
            <a:off x="365760" y="6620256"/>
            <a:ext cx="5486400" cy="219456"/>
          </a:xfrm>
          <a:prstGeom prst="rect">
            <a:avLst/>
          </a:prstGeom>
          <a:noFill/>
        </p:spPr>
        <p:txBody>
          <a:bodyPr wrap="square" anchor="t"/>
          <a:lstStyle/>
          <a:p>
            <a:pPr algn="l"/>
            <a:r>
              <a:rPr sz="900" b="0">
                <a:solidFill>
                  <a:srgbClr val="94A3B8"/>
                </a:solidFill>
                <a:latin typeface="Calibri"/>
              </a:rPr>
              <a:t>FENDER  ·  CodeArena '26  ·  Topic 04: Disaster Response</a:t>
            </a:r>
          </a:p>
        </p:txBody>
      </p:sp>
      <p:sp>
        <p:nvSpPr>
          <p:cNvPr id="8" name="TextBox 7"/>
          <p:cNvSpPr txBox="1"/>
          <p:nvPr/>
        </p:nvSpPr>
        <p:spPr>
          <a:xfrm>
            <a:off x="9692640" y="6620256"/>
            <a:ext cx="2103120" cy="219456"/>
          </a:xfrm>
          <a:prstGeom prst="rect">
            <a:avLst/>
          </a:prstGeom>
          <a:noFill/>
        </p:spPr>
        <p:txBody>
          <a:bodyPr wrap="square" anchor="t"/>
          <a:lstStyle/>
          <a:p>
            <a:pPr algn="r"/>
            <a:r>
              <a:rPr sz="900" b="0">
                <a:solidFill>
                  <a:srgbClr val="94A3B8"/>
                </a:solidFill>
                <a:latin typeface="Calibri"/>
              </a:rPr>
              <a:t>9  /  10</a:t>
            </a:r>
          </a:p>
        </p:txBody>
      </p:sp>
      <p:sp>
        <p:nvSpPr>
          <p:cNvPr id="9" name="Rounded Rectangle 8"/>
          <p:cNvSpPr/>
          <p:nvPr/>
        </p:nvSpPr>
        <p:spPr>
          <a:xfrm>
            <a:off x="347472" y="1243584"/>
            <a:ext cx="2834640" cy="1965960"/>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3776" y="1371600"/>
            <a:ext cx="2542032" cy="566928"/>
          </a:xfrm>
          <a:prstGeom prst="rect">
            <a:avLst/>
          </a:prstGeom>
          <a:noFill/>
        </p:spPr>
        <p:txBody>
          <a:bodyPr wrap="square" anchor="t"/>
          <a:lstStyle/>
          <a:p>
            <a:pPr algn="ctr"/>
            <a:r>
              <a:rPr sz="3200" b="1">
                <a:solidFill>
                  <a:srgbClr val="3B82F6"/>
                </a:solidFill>
                <a:latin typeface="Calibri"/>
              </a:rPr>
              <a:t>&lt; 3s</a:t>
            </a:r>
          </a:p>
        </p:txBody>
      </p:sp>
      <p:sp>
        <p:nvSpPr>
          <p:cNvPr id="11" name="TextBox 10"/>
          <p:cNvSpPr txBox="1"/>
          <p:nvPr/>
        </p:nvSpPr>
        <p:spPr>
          <a:xfrm>
            <a:off x="493776" y="1956816"/>
            <a:ext cx="2542032" cy="274320"/>
          </a:xfrm>
          <a:prstGeom prst="rect">
            <a:avLst/>
          </a:prstGeom>
          <a:noFill/>
        </p:spPr>
        <p:txBody>
          <a:bodyPr wrap="square" anchor="t"/>
          <a:lstStyle/>
          <a:p>
            <a:pPr algn="ctr"/>
            <a:r>
              <a:rPr sz="1200" b="1">
                <a:solidFill>
                  <a:srgbClr val="F8FAFC"/>
                </a:solidFill>
                <a:latin typeface="Calibri"/>
              </a:rPr>
              <a:t>AI TRIAGE SPEED</a:t>
            </a:r>
          </a:p>
        </p:txBody>
      </p:sp>
      <p:sp>
        <p:nvSpPr>
          <p:cNvPr id="12" name="TextBox 11"/>
          <p:cNvSpPr txBox="1"/>
          <p:nvPr/>
        </p:nvSpPr>
        <p:spPr>
          <a:xfrm>
            <a:off x="493776" y="2249424"/>
            <a:ext cx="2542032" cy="777240"/>
          </a:xfrm>
          <a:prstGeom prst="rect">
            <a:avLst/>
          </a:prstGeom>
          <a:noFill/>
        </p:spPr>
        <p:txBody>
          <a:bodyPr wrap="square" anchor="t"/>
          <a:lstStyle/>
          <a:p>
            <a:pPr algn="ctr"/>
            <a:r>
              <a:rPr sz="1200" b="0">
                <a:solidFill>
                  <a:srgbClr val="94A3B8"/>
                </a:solidFill>
                <a:latin typeface="Calibri"/>
              </a:rPr>
              <a:t>Down from 45 minutes of manual dispatcher phone triage.</a:t>
            </a:r>
          </a:p>
        </p:txBody>
      </p:sp>
      <p:sp>
        <p:nvSpPr>
          <p:cNvPr id="13" name="Rounded Rectangle 12"/>
          <p:cNvSpPr/>
          <p:nvPr/>
        </p:nvSpPr>
        <p:spPr>
          <a:xfrm>
            <a:off x="3310128" y="1243584"/>
            <a:ext cx="2834640" cy="1965960"/>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56432" y="1371600"/>
            <a:ext cx="2542032" cy="566928"/>
          </a:xfrm>
          <a:prstGeom prst="rect">
            <a:avLst/>
          </a:prstGeom>
          <a:noFill/>
        </p:spPr>
        <p:txBody>
          <a:bodyPr wrap="square" anchor="t"/>
          <a:lstStyle/>
          <a:p>
            <a:pPr algn="ctr"/>
            <a:r>
              <a:rPr sz="3200" b="1">
                <a:solidFill>
                  <a:srgbClr val="22D3EE"/>
                </a:solidFill>
                <a:latin typeface="Calibri"/>
              </a:rPr>
              <a:t>90%</a:t>
            </a:r>
          </a:p>
        </p:txBody>
      </p:sp>
      <p:sp>
        <p:nvSpPr>
          <p:cNvPr id="15" name="TextBox 14"/>
          <p:cNvSpPr txBox="1"/>
          <p:nvPr/>
        </p:nvSpPr>
        <p:spPr>
          <a:xfrm>
            <a:off x="3456432" y="1956816"/>
            <a:ext cx="2542032" cy="274320"/>
          </a:xfrm>
          <a:prstGeom prst="rect">
            <a:avLst/>
          </a:prstGeom>
          <a:noFill/>
        </p:spPr>
        <p:txBody>
          <a:bodyPr wrap="square" anchor="t"/>
          <a:lstStyle/>
          <a:p>
            <a:pPr algn="ctr"/>
            <a:r>
              <a:rPr sz="1200" b="1">
                <a:solidFill>
                  <a:srgbClr val="F8FAFC"/>
                </a:solidFill>
                <a:latin typeface="Calibri"/>
              </a:rPr>
              <a:t>DUPLICATE CUT</a:t>
            </a:r>
          </a:p>
        </p:txBody>
      </p:sp>
      <p:sp>
        <p:nvSpPr>
          <p:cNvPr id="16" name="TextBox 15"/>
          <p:cNvSpPr txBox="1"/>
          <p:nvPr/>
        </p:nvSpPr>
        <p:spPr>
          <a:xfrm>
            <a:off x="3456432" y="2249424"/>
            <a:ext cx="2542032" cy="777240"/>
          </a:xfrm>
          <a:prstGeom prst="rect">
            <a:avLst/>
          </a:prstGeom>
          <a:noFill/>
        </p:spPr>
        <p:txBody>
          <a:bodyPr wrap="square" anchor="t"/>
          <a:lstStyle/>
          <a:p>
            <a:pPr algn="ctr"/>
            <a:r>
              <a:rPr sz="1200" b="0">
                <a:solidFill>
                  <a:srgbClr val="94A3B8"/>
                </a:solidFill>
                <a:latin typeface="Calibri"/>
              </a:rPr>
              <a:t>PostGIS ST_DWithin collapses 50 calls into 1 master dispatch.</a:t>
            </a:r>
          </a:p>
        </p:txBody>
      </p:sp>
      <p:sp>
        <p:nvSpPr>
          <p:cNvPr id="17" name="Rounded Rectangle 16"/>
          <p:cNvSpPr/>
          <p:nvPr/>
        </p:nvSpPr>
        <p:spPr>
          <a:xfrm>
            <a:off x="6272784" y="1243584"/>
            <a:ext cx="2834640" cy="1965960"/>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088" y="1371600"/>
            <a:ext cx="2542032" cy="566928"/>
          </a:xfrm>
          <a:prstGeom prst="rect">
            <a:avLst/>
          </a:prstGeom>
          <a:noFill/>
        </p:spPr>
        <p:txBody>
          <a:bodyPr wrap="square" anchor="t"/>
          <a:lstStyle/>
          <a:p>
            <a:pPr algn="ctr"/>
            <a:r>
              <a:rPr sz="3200" b="1">
                <a:solidFill>
                  <a:srgbClr val="F59E0B"/>
                </a:solidFill>
                <a:latin typeface="Calibri"/>
              </a:rPr>
              <a:t>100%</a:t>
            </a:r>
          </a:p>
        </p:txBody>
      </p:sp>
      <p:sp>
        <p:nvSpPr>
          <p:cNvPr id="19" name="TextBox 18"/>
          <p:cNvSpPr txBox="1"/>
          <p:nvPr/>
        </p:nvSpPr>
        <p:spPr>
          <a:xfrm>
            <a:off x="6419088" y="1956816"/>
            <a:ext cx="2542032" cy="274320"/>
          </a:xfrm>
          <a:prstGeom prst="rect">
            <a:avLst/>
          </a:prstGeom>
          <a:noFill/>
        </p:spPr>
        <p:txBody>
          <a:bodyPr wrap="square" anchor="t"/>
          <a:lstStyle/>
          <a:p>
            <a:pPr algn="ctr"/>
            <a:r>
              <a:rPr sz="1200" b="1">
                <a:solidFill>
                  <a:srgbClr val="F8FAFC"/>
                </a:solidFill>
                <a:latin typeface="Calibri"/>
              </a:rPr>
              <a:t>VERIFIED CLEARANCES</a:t>
            </a:r>
          </a:p>
        </p:txBody>
      </p:sp>
      <p:sp>
        <p:nvSpPr>
          <p:cNvPr id="20" name="TextBox 19"/>
          <p:cNvSpPr txBox="1"/>
          <p:nvPr/>
        </p:nvSpPr>
        <p:spPr>
          <a:xfrm>
            <a:off x="6419088" y="2249424"/>
            <a:ext cx="2542032" cy="777240"/>
          </a:xfrm>
          <a:prstGeom prst="rect">
            <a:avLst/>
          </a:prstGeom>
          <a:noFill/>
        </p:spPr>
        <p:txBody>
          <a:bodyPr wrap="square" anchor="t"/>
          <a:lstStyle/>
          <a:p>
            <a:pPr algn="ctr"/>
            <a:r>
              <a:rPr sz="1200" b="0">
                <a:solidFill>
                  <a:srgbClr val="94A3B8"/>
                </a:solidFill>
                <a:latin typeface="Calibri"/>
              </a:rPr>
              <a:t>Zero ghost clearances. Closure requires a live photo.</a:t>
            </a:r>
          </a:p>
        </p:txBody>
      </p:sp>
      <p:sp>
        <p:nvSpPr>
          <p:cNvPr id="21" name="Rounded Rectangle 20"/>
          <p:cNvSpPr/>
          <p:nvPr/>
        </p:nvSpPr>
        <p:spPr>
          <a:xfrm>
            <a:off x="9235440" y="1243584"/>
            <a:ext cx="2834640" cy="1965960"/>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381744" y="1371600"/>
            <a:ext cx="2542032" cy="566928"/>
          </a:xfrm>
          <a:prstGeom prst="rect">
            <a:avLst/>
          </a:prstGeom>
          <a:noFill/>
        </p:spPr>
        <p:txBody>
          <a:bodyPr wrap="square" anchor="t"/>
          <a:lstStyle/>
          <a:p>
            <a:pPr algn="ctr"/>
            <a:r>
              <a:rPr sz="3200" b="1">
                <a:solidFill>
                  <a:srgbClr val="10B981"/>
                </a:solidFill>
                <a:latin typeface="Calibri"/>
              </a:rPr>
              <a:t>3 LNG</a:t>
            </a:r>
          </a:p>
        </p:txBody>
      </p:sp>
      <p:sp>
        <p:nvSpPr>
          <p:cNvPr id="23" name="TextBox 22"/>
          <p:cNvSpPr txBox="1"/>
          <p:nvPr/>
        </p:nvSpPr>
        <p:spPr>
          <a:xfrm>
            <a:off x="9381744" y="1956816"/>
            <a:ext cx="2542032" cy="274320"/>
          </a:xfrm>
          <a:prstGeom prst="rect">
            <a:avLst/>
          </a:prstGeom>
          <a:noFill/>
        </p:spPr>
        <p:txBody>
          <a:bodyPr wrap="square" anchor="t"/>
          <a:lstStyle/>
          <a:p>
            <a:pPr algn="ctr"/>
            <a:r>
              <a:rPr sz="1200" b="1">
                <a:solidFill>
                  <a:srgbClr val="F8FAFC"/>
                </a:solidFill>
                <a:latin typeface="Calibri"/>
              </a:rPr>
              <a:t>TRILINGUAL PARITY</a:t>
            </a:r>
          </a:p>
        </p:txBody>
      </p:sp>
      <p:sp>
        <p:nvSpPr>
          <p:cNvPr id="24" name="TextBox 23"/>
          <p:cNvSpPr txBox="1"/>
          <p:nvPr/>
        </p:nvSpPr>
        <p:spPr>
          <a:xfrm>
            <a:off x="9381744" y="2249424"/>
            <a:ext cx="2542032" cy="777240"/>
          </a:xfrm>
          <a:prstGeom prst="rect">
            <a:avLst/>
          </a:prstGeom>
          <a:noFill/>
        </p:spPr>
        <p:txBody>
          <a:bodyPr wrap="square" anchor="t"/>
          <a:lstStyle/>
          <a:p>
            <a:pPr algn="ctr"/>
            <a:r>
              <a:rPr sz="1200" b="0">
                <a:solidFill>
                  <a:srgbClr val="94A3B8"/>
                </a:solidFill>
                <a:latin typeface="Calibri"/>
              </a:rPr>
              <a:t>Full English, Sinhala, and Tamil support for every citizen.</a:t>
            </a:r>
          </a:p>
        </p:txBody>
      </p:sp>
      <p:sp>
        <p:nvSpPr>
          <p:cNvPr id="25" name="TextBox 24"/>
          <p:cNvSpPr txBox="1"/>
          <p:nvPr/>
        </p:nvSpPr>
        <p:spPr>
          <a:xfrm>
            <a:off x="411480" y="3364992"/>
            <a:ext cx="11338560" cy="256032"/>
          </a:xfrm>
          <a:prstGeom prst="rect">
            <a:avLst/>
          </a:prstGeom>
          <a:noFill/>
        </p:spPr>
        <p:txBody>
          <a:bodyPr wrap="square" anchor="t"/>
          <a:lstStyle/>
          <a:p>
            <a:pPr algn="l"/>
            <a:r>
              <a:rPr sz="1100" b="1">
                <a:solidFill>
                  <a:srgbClr val="22D3EE"/>
                </a:solidFill>
                <a:latin typeface="Calibri"/>
              </a:rPr>
              <a:t>FULL-STACK ARCHITECTURE</a:t>
            </a:r>
          </a:p>
        </p:txBody>
      </p:sp>
      <p:sp>
        <p:nvSpPr>
          <p:cNvPr id="26" name="Rounded Rectangle 25"/>
          <p:cNvSpPr/>
          <p:nvPr/>
        </p:nvSpPr>
        <p:spPr>
          <a:xfrm>
            <a:off x="347472" y="3675887"/>
            <a:ext cx="2834640" cy="1691640"/>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12064" y="3785615"/>
            <a:ext cx="2505456" cy="292608"/>
          </a:xfrm>
          <a:prstGeom prst="rect">
            <a:avLst/>
          </a:prstGeom>
          <a:noFill/>
        </p:spPr>
        <p:txBody>
          <a:bodyPr wrap="square" anchor="t"/>
          <a:lstStyle/>
          <a:p>
            <a:pPr algn="l"/>
            <a:r>
              <a:rPr sz="1300" b="1">
                <a:solidFill>
                  <a:srgbClr val="3B82F6"/>
                </a:solidFill>
                <a:latin typeface="Calibri"/>
              </a:rPr>
              <a:t>Frontend &amp; PWA</a:t>
            </a:r>
          </a:p>
        </p:txBody>
      </p:sp>
      <p:sp>
        <p:nvSpPr>
          <p:cNvPr id="28" name="TextBox 27"/>
          <p:cNvSpPr txBox="1"/>
          <p:nvPr/>
        </p:nvSpPr>
        <p:spPr>
          <a:xfrm>
            <a:off x="512064" y="4114800"/>
            <a:ext cx="2505456" cy="1051560"/>
          </a:xfrm>
          <a:prstGeom prst="rect">
            <a:avLst/>
          </a:prstGeom>
          <a:noFill/>
        </p:spPr>
        <p:txBody>
          <a:bodyPr wrap="square" anchor="t"/>
          <a:lstStyle/>
          <a:p>
            <a:pPr algn="l"/>
            <a:r>
              <a:rPr sz="1300" b="0">
                <a:solidFill>
                  <a:srgbClr val="CBD5E1"/>
                </a:solidFill>
                <a:latin typeface="Calibri"/>
              </a:rPr>
              <a:t>Next.js 16.3 App Router
React 19 · Tailwind v4 · Leaflet</a:t>
            </a:r>
          </a:p>
        </p:txBody>
      </p:sp>
      <p:sp>
        <p:nvSpPr>
          <p:cNvPr id="29" name="Rounded Rectangle 28"/>
          <p:cNvSpPr/>
          <p:nvPr/>
        </p:nvSpPr>
        <p:spPr>
          <a:xfrm>
            <a:off x="3310128" y="3675887"/>
            <a:ext cx="2834640" cy="1691640"/>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74720" y="3785615"/>
            <a:ext cx="2505456" cy="292608"/>
          </a:xfrm>
          <a:prstGeom prst="rect">
            <a:avLst/>
          </a:prstGeom>
          <a:noFill/>
        </p:spPr>
        <p:txBody>
          <a:bodyPr wrap="square" anchor="t"/>
          <a:lstStyle/>
          <a:p>
            <a:pPr algn="l"/>
            <a:r>
              <a:rPr sz="1300" b="1">
                <a:solidFill>
                  <a:srgbClr val="22D3EE"/>
                </a:solidFill>
                <a:latin typeface="Calibri"/>
              </a:rPr>
              <a:t>Spatial &amp; Database</a:t>
            </a:r>
          </a:p>
        </p:txBody>
      </p:sp>
      <p:sp>
        <p:nvSpPr>
          <p:cNvPr id="31" name="TextBox 30"/>
          <p:cNvSpPr txBox="1"/>
          <p:nvPr/>
        </p:nvSpPr>
        <p:spPr>
          <a:xfrm>
            <a:off x="3474720" y="4114800"/>
            <a:ext cx="2505456" cy="1051560"/>
          </a:xfrm>
          <a:prstGeom prst="rect">
            <a:avLst/>
          </a:prstGeom>
          <a:noFill/>
        </p:spPr>
        <p:txBody>
          <a:bodyPr wrap="square" anchor="t"/>
          <a:lstStyle/>
          <a:p>
            <a:pPr algn="l"/>
            <a:r>
              <a:rPr sz="1300" b="0">
                <a:solidFill>
                  <a:srgbClr val="CBD5E1"/>
                </a:solidFill>
                <a:latin typeface="Calibri"/>
              </a:rPr>
              <a:t>Supabase PostgreSQL
PostGIS · Realtime WebSockets</a:t>
            </a:r>
          </a:p>
        </p:txBody>
      </p:sp>
      <p:sp>
        <p:nvSpPr>
          <p:cNvPr id="32" name="Rounded Rectangle 31"/>
          <p:cNvSpPr/>
          <p:nvPr/>
        </p:nvSpPr>
        <p:spPr>
          <a:xfrm>
            <a:off x="6272784" y="3675887"/>
            <a:ext cx="2834640" cy="1691640"/>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3785615"/>
            <a:ext cx="2505456" cy="292608"/>
          </a:xfrm>
          <a:prstGeom prst="rect">
            <a:avLst/>
          </a:prstGeom>
          <a:noFill/>
        </p:spPr>
        <p:txBody>
          <a:bodyPr wrap="square" anchor="t"/>
          <a:lstStyle/>
          <a:p>
            <a:pPr algn="l"/>
            <a:r>
              <a:rPr sz="1300" b="1">
                <a:solidFill>
                  <a:srgbClr val="F59E0B"/>
                </a:solidFill>
                <a:latin typeface="Calibri"/>
              </a:rPr>
              <a:t>Intelligence</a:t>
            </a:r>
          </a:p>
        </p:txBody>
      </p:sp>
      <p:sp>
        <p:nvSpPr>
          <p:cNvPr id="34" name="TextBox 33"/>
          <p:cNvSpPr txBox="1"/>
          <p:nvPr/>
        </p:nvSpPr>
        <p:spPr>
          <a:xfrm>
            <a:off x="6437376" y="4114800"/>
            <a:ext cx="2505456" cy="1051560"/>
          </a:xfrm>
          <a:prstGeom prst="rect">
            <a:avLst/>
          </a:prstGeom>
          <a:noFill/>
        </p:spPr>
        <p:txBody>
          <a:bodyPr wrap="square" anchor="t"/>
          <a:lstStyle/>
          <a:p>
            <a:pPr algn="l"/>
            <a:r>
              <a:rPr sz="1300" b="0">
                <a:solidFill>
                  <a:srgbClr val="CBD5E1"/>
                </a:solidFill>
                <a:latin typeface="Calibri"/>
              </a:rPr>
              <a:t>Gemini 2.5 Flash Vision
Structured JSON + fallback rules</a:t>
            </a:r>
          </a:p>
        </p:txBody>
      </p:sp>
      <p:sp>
        <p:nvSpPr>
          <p:cNvPr id="35" name="Rounded Rectangle 34"/>
          <p:cNvSpPr/>
          <p:nvPr/>
        </p:nvSpPr>
        <p:spPr>
          <a:xfrm>
            <a:off x="9235440" y="3675887"/>
            <a:ext cx="2834640" cy="1691640"/>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400032" y="3785615"/>
            <a:ext cx="2505456" cy="292608"/>
          </a:xfrm>
          <a:prstGeom prst="rect">
            <a:avLst/>
          </a:prstGeom>
          <a:noFill/>
        </p:spPr>
        <p:txBody>
          <a:bodyPr wrap="square" anchor="t"/>
          <a:lstStyle/>
          <a:p>
            <a:pPr algn="l"/>
            <a:r>
              <a:rPr sz="1300" b="1">
                <a:solidFill>
                  <a:srgbClr val="10B981"/>
                </a:solidFill>
                <a:latin typeface="Calibri"/>
              </a:rPr>
              <a:t>Mobile Native</a:t>
            </a:r>
          </a:p>
        </p:txBody>
      </p:sp>
      <p:sp>
        <p:nvSpPr>
          <p:cNvPr id="37" name="TextBox 36"/>
          <p:cNvSpPr txBox="1"/>
          <p:nvPr/>
        </p:nvSpPr>
        <p:spPr>
          <a:xfrm>
            <a:off x="9400032" y="4114800"/>
            <a:ext cx="2505456" cy="1051560"/>
          </a:xfrm>
          <a:prstGeom prst="rect">
            <a:avLst/>
          </a:prstGeom>
          <a:noFill/>
        </p:spPr>
        <p:txBody>
          <a:bodyPr wrap="square" anchor="t"/>
          <a:lstStyle/>
          <a:p>
            <a:pPr algn="l"/>
            <a:r>
              <a:rPr sz="1300" b="0">
                <a:solidFill>
                  <a:srgbClr val="CBD5E1"/>
                </a:solidFill>
                <a:latin typeface="Calibri"/>
              </a:rPr>
              <a:t>Expo SDK 57
React Native 0.86 · offline cache</a:t>
            </a:r>
          </a:p>
        </p:txBody>
      </p:sp>
      <p:sp>
        <p:nvSpPr>
          <p:cNvPr id="38" name="Rounded Rectangle 37"/>
          <p:cNvSpPr/>
          <p:nvPr/>
        </p:nvSpPr>
        <p:spPr>
          <a:xfrm>
            <a:off x="347472" y="5504688"/>
            <a:ext cx="11484864" cy="896112"/>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30352" y="5632704"/>
            <a:ext cx="6766560" cy="292608"/>
          </a:xfrm>
          <a:prstGeom prst="rect">
            <a:avLst/>
          </a:prstGeom>
          <a:noFill/>
        </p:spPr>
        <p:txBody>
          <a:bodyPr wrap="square" anchor="t"/>
          <a:lstStyle/>
          <a:p>
            <a:pPr algn="l"/>
            <a:r>
              <a:rPr sz="1300" b="1">
                <a:solidFill>
                  <a:srgbClr val="F8FAFC"/>
                </a:solidFill>
                <a:latin typeface="Calibri"/>
              </a:rPr>
              <a:t>PRODUCTION READY  ·  Live on Vercel Edge</a:t>
            </a:r>
          </a:p>
        </p:txBody>
      </p:sp>
      <p:sp>
        <p:nvSpPr>
          <p:cNvPr id="40" name="TextBox 39"/>
          <p:cNvSpPr txBox="1"/>
          <p:nvPr/>
        </p:nvSpPr>
        <p:spPr>
          <a:xfrm>
            <a:off x="530352" y="5943600"/>
            <a:ext cx="6766560" cy="292608"/>
          </a:xfrm>
          <a:prstGeom prst="rect">
            <a:avLst/>
          </a:prstGeom>
          <a:noFill/>
        </p:spPr>
        <p:txBody>
          <a:bodyPr wrap="square" anchor="t"/>
          <a:lstStyle/>
          <a:p>
            <a:pPr algn="l"/>
            <a:r>
              <a:rPr sz="1200" b="0">
                <a:solidFill>
                  <a:srgbClr val="94A3B8"/>
                </a:solidFill>
                <a:latin typeface="Calibri"/>
              </a:rPr>
              <a:t>Zero cold-start pooling  ·  Row Level Security  ·  Deterministic AI fallback if Gemini is down</a:t>
            </a:r>
          </a:p>
        </p:txBody>
      </p:sp>
      <p:sp>
        <p:nvSpPr>
          <p:cNvPr id="41" name="TextBox 40"/>
          <p:cNvSpPr txBox="1"/>
          <p:nvPr/>
        </p:nvSpPr>
        <p:spPr>
          <a:xfrm>
            <a:off x="7498079" y="5742432"/>
            <a:ext cx="4114800" cy="420624"/>
          </a:xfrm>
          <a:prstGeom prst="rect">
            <a:avLst/>
          </a:prstGeom>
          <a:noFill/>
        </p:spPr>
        <p:txBody>
          <a:bodyPr wrap="square" anchor="t"/>
          <a:lstStyle/>
          <a:p>
            <a:pPr algn="r"/>
            <a:r>
              <a:rPr sz="1300" b="1">
                <a:solidFill>
                  <a:srgbClr val="22D3EE"/>
                </a:solidFill>
                <a:latin typeface="Calibri"/>
              </a:rPr>
              <a:t>backend-chi-gilt-80.vercel.app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Rectangle 1"/>
          <p:cNvSpPr/>
          <p:nvPr/>
        </p:nvSpPr>
        <p:spPr>
          <a:xfrm>
            <a:off x="0" y="0"/>
            <a:ext cx="12191695" cy="54864"/>
          </a:xfrm>
          <a:prstGeom prst="rect">
            <a:avLst/>
          </a:prstGeom>
          <a:solidFill>
            <a:srgbClr val="22D3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01968"/>
            <a:ext cx="12191695" cy="256032"/>
          </a:xfrm>
          <a:prstGeom prst="rect">
            <a:avLst/>
          </a:prstGeom>
          <a:solidFill>
            <a:srgbClr val="080E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11338560" cy="256032"/>
          </a:xfrm>
          <a:prstGeom prst="rect">
            <a:avLst/>
          </a:prstGeom>
          <a:noFill/>
        </p:spPr>
        <p:txBody>
          <a:bodyPr wrap="square" anchor="t"/>
          <a:lstStyle/>
          <a:p>
            <a:pPr algn="l"/>
            <a:r>
              <a:rPr sz="1100" b="1">
                <a:solidFill>
                  <a:srgbClr val="22D3EE"/>
                </a:solidFill>
                <a:latin typeface="Calibri"/>
              </a:rPr>
              <a:t>FUTURE ROADMAP &amp; CONCLUSION</a:t>
            </a:r>
          </a:p>
        </p:txBody>
      </p:sp>
      <p:sp>
        <p:nvSpPr>
          <p:cNvPr id="5" name="TextBox 4"/>
          <p:cNvSpPr txBox="1"/>
          <p:nvPr/>
        </p:nvSpPr>
        <p:spPr>
          <a:xfrm>
            <a:off x="411480" y="384048"/>
            <a:ext cx="11338560" cy="438912"/>
          </a:xfrm>
          <a:prstGeom prst="rect">
            <a:avLst/>
          </a:prstGeom>
          <a:noFill/>
        </p:spPr>
        <p:txBody>
          <a:bodyPr wrap="square" anchor="t"/>
          <a:lstStyle/>
          <a:p>
            <a:pPr algn="l"/>
            <a:r>
              <a:rPr sz="2600" b="1">
                <a:solidFill>
                  <a:srgbClr val="F8FAFC"/>
                </a:solidFill>
                <a:latin typeface="Calibri"/>
              </a:rPr>
              <a:t>Saving Lives Before the Waters Rise</a:t>
            </a:r>
          </a:p>
        </p:txBody>
      </p:sp>
      <p:sp>
        <p:nvSpPr>
          <p:cNvPr id="6" name="TextBox 5"/>
          <p:cNvSpPr txBox="1"/>
          <p:nvPr/>
        </p:nvSpPr>
        <p:spPr>
          <a:xfrm>
            <a:off x="411480" y="804672"/>
            <a:ext cx="11338560" cy="292608"/>
          </a:xfrm>
          <a:prstGeom prst="rect">
            <a:avLst/>
          </a:prstGeom>
          <a:noFill/>
        </p:spPr>
        <p:txBody>
          <a:bodyPr wrap="square" anchor="t"/>
          <a:lstStyle/>
          <a:p>
            <a:pPr algn="l"/>
            <a:r>
              <a:rPr sz="1300" b="0">
                <a:solidFill>
                  <a:srgbClr val="94A3B8"/>
                </a:solidFill>
                <a:latin typeface="Calibri"/>
              </a:rPr>
              <a:t>From Colombo’s Kelani River to a national disaster infrastructure standard</a:t>
            </a:r>
          </a:p>
        </p:txBody>
      </p:sp>
      <p:sp>
        <p:nvSpPr>
          <p:cNvPr id="7" name="TextBox 6"/>
          <p:cNvSpPr txBox="1"/>
          <p:nvPr/>
        </p:nvSpPr>
        <p:spPr>
          <a:xfrm>
            <a:off x="365760" y="6620256"/>
            <a:ext cx="5486400" cy="219456"/>
          </a:xfrm>
          <a:prstGeom prst="rect">
            <a:avLst/>
          </a:prstGeom>
          <a:noFill/>
        </p:spPr>
        <p:txBody>
          <a:bodyPr wrap="square" anchor="t"/>
          <a:lstStyle/>
          <a:p>
            <a:pPr algn="l"/>
            <a:r>
              <a:rPr sz="900" b="0">
                <a:solidFill>
                  <a:srgbClr val="94A3B8"/>
                </a:solidFill>
                <a:latin typeface="Calibri"/>
              </a:rPr>
              <a:t>FENDER  ·  CodeArena '26  ·  Topic 04: Disaster Response</a:t>
            </a:r>
          </a:p>
        </p:txBody>
      </p:sp>
      <p:sp>
        <p:nvSpPr>
          <p:cNvPr id="8" name="TextBox 7"/>
          <p:cNvSpPr txBox="1"/>
          <p:nvPr/>
        </p:nvSpPr>
        <p:spPr>
          <a:xfrm>
            <a:off x="9692640" y="6620256"/>
            <a:ext cx="2103120" cy="219456"/>
          </a:xfrm>
          <a:prstGeom prst="rect">
            <a:avLst/>
          </a:prstGeom>
          <a:noFill/>
        </p:spPr>
        <p:txBody>
          <a:bodyPr wrap="square" anchor="t"/>
          <a:lstStyle/>
          <a:p>
            <a:pPr algn="r"/>
            <a:r>
              <a:rPr sz="900" b="0">
                <a:solidFill>
                  <a:srgbClr val="94A3B8"/>
                </a:solidFill>
                <a:latin typeface="Calibri"/>
              </a:rPr>
              <a:t>10  /  10</a:t>
            </a:r>
          </a:p>
        </p:txBody>
      </p:sp>
      <p:sp>
        <p:nvSpPr>
          <p:cNvPr id="9" name="Rounded Rectangle 8"/>
          <p:cNvSpPr/>
          <p:nvPr/>
        </p:nvSpPr>
        <p:spPr>
          <a:xfrm>
            <a:off x="365760" y="1243584"/>
            <a:ext cx="3749039" cy="2331720"/>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 y="1389888"/>
            <a:ext cx="3346704" cy="256032"/>
          </a:xfrm>
          <a:prstGeom prst="rect">
            <a:avLst/>
          </a:prstGeom>
          <a:noFill/>
        </p:spPr>
        <p:txBody>
          <a:bodyPr wrap="square" anchor="t"/>
          <a:lstStyle/>
          <a:p>
            <a:pPr algn="l"/>
            <a:r>
              <a:rPr sz="1100" b="1">
                <a:solidFill>
                  <a:srgbClr val="3B82F6"/>
                </a:solidFill>
                <a:latin typeface="Calibri"/>
              </a:rPr>
              <a:t>PHASE 1</a:t>
            </a:r>
          </a:p>
        </p:txBody>
      </p:sp>
      <p:sp>
        <p:nvSpPr>
          <p:cNvPr id="11" name="TextBox 10"/>
          <p:cNvSpPr txBox="1"/>
          <p:nvPr/>
        </p:nvSpPr>
        <p:spPr>
          <a:xfrm>
            <a:off x="566928" y="1682496"/>
            <a:ext cx="3346704" cy="384048"/>
          </a:xfrm>
          <a:prstGeom prst="rect">
            <a:avLst/>
          </a:prstGeom>
          <a:noFill/>
        </p:spPr>
        <p:txBody>
          <a:bodyPr wrap="square" anchor="t"/>
          <a:lstStyle/>
          <a:p>
            <a:pPr algn="l"/>
            <a:r>
              <a:rPr sz="1800" b="1">
                <a:solidFill>
                  <a:srgbClr val="F8FAFC"/>
                </a:solidFill>
                <a:latin typeface="Calibri"/>
              </a:rPr>
              <a:t>LoRa / BLE Mesh Sync</a:t>
            </a:r>
          </a:p>
        </p:txBody>
      </p:sp>
      <p:sp>
        <p:nvSpPr>
          <p:cNvPr id="12" name="TextBox 11"/>
          <p:cNvSpPr txBox="1"/>
          <p:nvPr/>
        </p:nvSpPr>
        <p:spPr>
          <a:xfrm>
            <a:off x="566928" y="2139696"/>
            <a:ext cx="3346704" cy="1143000"/>
          </a:xfrm>
          <a:prstGeom prst="rect">
            <a:avLst/>
          </a:prstGeom>
          <a:noFill/>
        </p:spPr>
        <p:txBody>
          <a:bodyPr wrap="square" anchor="t"/>
          <a:lstStyle/>
          <a:p>
            <a:pPr algn="l"/>
            <a:r>
              <a:rPr sz="1300" b="0">
                <a:solidFill>
                  <a:srgbClr val="CBD5E1"/>
                </a:solidFill>
                <a:latin typeface="Calibri"/>
              </a:rPr>
              <a:t>Peer-to-peer offline hop for total cellular blackout. SOS packets travel 5 km without towers.</a:t>
            </a:r>
          </a:p>
        </p:txBody>
      </p:sp>
      <p:sp>
        <p:nvSpPr>
          <p:cNvPr id="13" name="Rounded Rectangle 12"/>
          <p:cNvSpPr/>
          <p:nvPr/>
        </p:nvSpPr>
        <p:spPr>
          <a:xfrm>
            <a:off x="4297680" y="1243584"/>
            <a:ext cx="3749039" cy="2331720"/>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98848" y="1389888"/>
            <a:ext cx="3346704" cy="256032"/>
          </a:xfrm>
          <a:prstGeom prst="rect">
            <a:avLst/>
          </a:prstGeom>
          <a:noFill/>
        </p:spPr>
        <p:txBody>
          <a:bodyPr wrap="square" anchor="t"/>
          <a:lstStyle/>
          <a:p>
            <a:pPr algn="l"/>
            <a:r>
              <a:rPr sz="1100" b="1">
                <a:solidFill>
                  <a:srgbClr val="22D3EE"/>
                </a:solidFill>
                <a:latin typeface="Calibri"/>
              </a:rPr>
              <a:t>PHASE 2</a:t>
            </a:r>
          </a:p>
        </p:txBody>
      </p:sp>
      <p:sp>
        <p:nvSpPr>
          <p:cNvPr id="15" name="TextBox 14"/>
          <p:cNvSpPr txBox="1"/>
          <p:nvPr/>
        </p:nvSpPr>
        <p:spPr>
          <a:xfrm>
            <a:off x="4498848" y="1682496"/>
            <a:ext cx="3346704" cy="384048"/>
          </a:xfrm>
          <a:prstGeom prst="rect">
            <a:avLst/>
          </a:prstGeom>
          <a:noFill/>
        </p:spPr>
        <p:txBody>
          <a:bodyPr wrap="square" anchor="t"/>
          <a:lstStyle/>
          <a:p>
            <a:pPr algn="l"/>
            <a:r>
              <a:rPr sz="1800" b="1">
                <a:solidFill>
                  <a:srgbClr val="F8FAFC"/>
                </a:solidFill>
                <a:latin typeface="Calibri"/>
              </a:rPr>
              <a:t>Drone Stream Vision</a:t>
            </a:r>
          </a:p>
        </p:txBody>
      </p:sp>
      <p:sp>
        <p:nvSpPr>
          <p:cNvPr id="16" name="TextBox 15"/>
          <p:cNvSpPr txBox="1"/>
          <p:nvPr/>
        </p:nvSpPr>
        <p:spPr>
          <a:xfrm>
            <a:off x="4498848" y="2139696"/>
            <a:ext cx="3346704" cy="1143000"/>
          </a:xfrm>
          <a:prstGeom prst="rect">
            <a:avLst/>
          </a:prstGeom>
          <a:noFill/>
        </p:spPr>
        <p:txBody>
          <a:bodyPr wrap="square" anchor="t"/>
          <a:lstStyle/>
          <a:p>
            <a:pPr algn="l"/>
            <a:r>
              <a:rPr sz="1300" b="0">
                <a:solidFill>
                  <a:srgbClr val="CBD5E1"/>
                </a:solidFill>
                <a:latin typeface="Calibri"/>
              </a:rPr>
              <a:t>Feed UAV video into Gemini Vision to trace breached levees and expanding flood boundaries.</a:t>
            </a:r>
          </a:p>
        </p:txBody>
      </p:sp>
      <p:sp>
        <p:nvSpPr>
          <p:cNvPr id="17" name="Rounded Rectangle 16"/>
          <p:cNvSpPr/>
          <p:nvPr/>
        </p:nvSpPr>
        <p:spPr>
          <a:xfrm>
            <a:off x="8229600" y="1243584"/>
            <a:ext cx="3749039" cy="2331720"/>
          </a:xfrm>
          <a:prstGeom prst="roundRect">
            <a:avLst>
              <a:gd name="adj" fmla="val 8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30768" y="1389888"/>
            <a:ext cx="3346704" cy="256032"/>
          </a:xfrm>
          <a:prstGeom prst="rect">
            <a:avLst/>
          </a:prstGeom>
          <a:noFill/>
        </p:spPr>
        <p:txBody>
          <a:bodyPr wrap="square" anchor="t"/>
          <a:lstStyle/>
          <a:p>
            <a:pPr algn="l"/>
            <a:r>
              <a:rPr sz="1100" b="1">
                <a:solidFill>
                  <a:srgbClr val="10B981"/>
                </a:solidFill>
                <a:latin typeface="Calibri"/>
              </a:rPr>
              <a:t>PHASE 3</a:t>
            </a:r>
          </a:p>
        </p:txBody>
      </p:sp>
      <p:sp>
        <p:nvSpPr>
          <p:cNvPr id="19" name="TextBox 18"/>
          <p:cNvSpPr txBox="1"/>
          <p:nvPr/>
        </p:nvSpPr>
        <p:spPr>
          <a:xfrm>
            <a:off x="8430768" y="1682496"/>
            <a:ext cx="3346704" cy="384048"/>
          </a:xfrm>
          <a:prstGeom prst="rect">
            <a:avLst/>
          </a:prstGeom>
          <a:noFill/>
        </p:spPr>
        <p:txBody>
          <a:bodyPr wrap="square" anchor="t"/>
          <a:lstStyle/>
          <a:p>
            <a:pPr algn="l"/>
            <a:r>
              <a:rPr sz="1800" b="1">
                <a:solidFill>
                  <a:srgbClr val="F8FAFC"/>
                </a:solidFill>
                <a:latin typeface="Calibri"/>
              </a:rPr>
              <a:t>National DMC Integration</a:t>
            </a:r>
          </a:p>
        </p:txBody>
      </p:sp>
      <p:sp>
        <p:nvSpPr>
          <p:cNvPr id="20" name="TextBox 19"/>
          <p:cNvSpPr txBox="1"/>
          <p:nvPr/>
        </p:nvSpPr>
        <p:spPr>
          <a:xfrm>
            <a:off x="8430768" y="2139696"/>
            <a:ext cx="3346704" cy="1143000"/>
          </a:xfrm>
          <a:prstGeom prst="rect">
            <a:avLst/>
          </a:prstGeom>
          <a:noFill/>
        </p:spPr>
        <p:txBody>
          <a:bodyPr wrap="square" anchor="t"/>
          <a:lstStyle/>
          <a:p>
            <a:pPr algn="l"/>
            <a:r>
              <a:rPr sz="1300" b="0">
                <a:solidFill>
                  <a:srgbClr val="CBD5E1"/>
                </a:solidFill>
                <a:latin typeface="Calibri"/>
              </a:rPr>
              <a:t>Bidirectional telemetry into Sri Lanka’s 117 / DMC dispatch and municipal siren systems.</a:t>
            </a:r>
          </a:p>
        </p:txBody>
      </p:sp>
      <p:sp>
        <p:nvSpPr>
          <p:cNvPr id="21" name="Rounded Rectangle 20"/>
          <p:cNvSpPr/>
          <p:nvPr/>
        </p:nvSpPr>
        <p:spPr>
          <a:xfrm>
            <a:off x="365760" y="3749039"/>
            <a:ext cx="11466576" cy="2633472"/>
          </a:xfrm>
          <a:prstGeom prst="roundRect">
            <a:avLst>
              <a:gd name="adj" fmla="val 8000"/>
            </a:avLst>
          </a:prstGeom>
          <a:solidFill>
            <a:srgbClr val="0E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3913632"/>
            <a:ext cx="10972800" cy="457200"/>
          </a:xfrm>
          <a:prstGeom prst="rect">
            <a:avLst/>
          </a:prstGeom>
          <a:noFill/>
        </p:spPr>
        <p:txBody>
          <a:bodyPr wrap="square" anchor="t"/>
          <a:lstStyle/>
          <a:p>
            <a:pPr algn="ctr"/>
            <a:r>
              <a:rPr sz="2600" b="1">
                <a:solidFill>
                  <a:srgbClr val="F8FAFC"/>
                </a:solidFill>
                <a:latin typeface="Calibri"/>
              </a:rPr>
              <a:t>Thank you. Questions &amp; live demo?</a:t>
            </a:r>
          </a:p>
        </p:txBody>
      </p:sp>
      <p:sp>
        <p:nvSpPr>
          <p:cNvPr id="23" name="TextBox 22"/>
          <p:cNvSpPr txBox="1"/>
          <p:nvPr/>
        </p:nvSpPr>
        <p:spPr>
          <a:xfrm>
            <a:off x="640080" y="4425696"/>
            <a:ext cx="10972800" cy="329184"/>
          </a:xfrm>
          <a:prstGeom prst="rect">
            <a:avLst/>
          </a:prstGeom>
          <a:noFill/>
        </p:spPr>
        <p:txBody>
          <a:bodyPr wrap="square" anchor="t"/>
          <a:lstStyle/>
          <a:p>
            <a:pPr algn="ctr"/>
            <a:r>
              <a:rPr sz="1500" b="0">
                <a:solidFill>
                  <a:srgbClr val="CBD5E1"/>
                </a:solidFill>
                <a:latin typeface="Calibri"/>
              </a:rPr>
              <a:t>Flash floods are inevitable. Blind disaster response is not.</a:t>
            </a:r>
          </a:p>
        </p:txBody>
      </p:sp>
      <p:sp>
        <p:nvSpPr>
          <p:cNvPr id="24" name="TextBox 23"/>
          <p:cNvSpPr txBox="1"/>
          <p:nvPr/>
        </p:nvSpPr>
        <p:spPr>
          <a:xfrm>
            <a:off x="640080" y="4828032"/>
            <a:ext cx="10972800" cy="292608"/>
          </a:xfrm>
          <a:prstGeom prst="rect">
            <a:avLst/>
          </a:prstGeom>
          <a:noFill/>
        </p:spPr>
        <p:txBody>
          <a:bodyPr wrap="square" anchor="t"/>
          <a:lstStyle/>
          <a:p>
            <a:pPr algn="ctr"/>
            <a:r>
              <a:rPr sz="1600" b="1">
                <a:solidFill>
                  <a:srgbClr val="22D3EE"/>
                </a:solidFill>
                <a:latin typeface="Calibri"/>
              </a:rPr>
              <a:t>https://backend-chi-gilt-80.vercel.app</a:t>
            </a:r>
          </a:p>
        </p:txBody>
      </p:sp>
      <p:sp>
        <p:nvSpPr>
          <p:cNvPr id="25" name="Rounded Rectangle 24"/>
          <p:cNvSpPr/>
          <p:nvPr/>
        </p:nvSpPr>
        <p:spPr>
          <a:xfrm>
            <a:off x="777240" y="5303520"/>
            <a:ext cx="2651760" cy="384048"/>
          </a:xfrm>
          <a:prstGeom prst="roundRect">
            <a:avLst>
              <a:gd name="adj" fmla="val 50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3B82F6"/>
                </a:solidFill>
                <a:latin typeface="Calibri"/>
              </a:rPr>
              <a:t>Command Desk   /dashboard/officer</a:t>
            </a:r>
          </a:p>
        </p:txBody>
      </p:sp>
      <p:sp>
        <p:nvSpPr>
          <p:cNvPr id="26" name="Rounded Rectangle 25"/>
          <p:cNvSpPr/>
          <p:nvPr/>
        </p:nvSpPr>
        <p:spPr>
          <a:xfrm>
            <a:off x="3611880" y="5303520"/>
            <a:ext cx="2651760" cy="384048"/>
          </a:xfrm>
          <a:prstGeom prst="roundRect">
            <a:avLst>
              <a:gd name="adj" fmla="val 50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22D3EE"/>
                </a:solidFill>
                <a:latin typeface="Calibri"/>
              </a:rPr>
              <a:t>Safe Map   /map</a:t>
            </a:r>
          </a:p>
        </p:txBody>
      </p:sp>
      <p:sp>
        <p:nvSpPr>
          <p:cNvPr id="27" name="Rounded Rectangle 26"/>
          <p:cNvSpPr/>
          <p:nvPr/>
        </p:nvSpPr>
        <p:spPr>
          <a:xfrm>
            <a:off x="6446520" y="5303520"/>
            <a:ext cx="2651760" cy="384048"/>
          </a:xfrm>
          <a:prstGeom prst="roundRect">
            <a:avLst>
              <a:gd name="adj" fmla="val 50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10B981"/>
                </a:solidFill>
                <a:latin typeface="Calibri"/>
              </a:rPr>
              <a:t>Safe Registry   /safe</a:t>
            </a:r>
          </a:p>
        </p:txBody>
      </p:sp>
      <p:sp>
        <p:nvSpPr>
          <p:cNvPr id="28" name="Rounded Rectangle 27"/>
          <p:cNvSpPr/>
          <p:nvPr/>
        </p:nvSpPr>
        <p:spPr>
          <a:xfrm>
            <a:off x="9281160" y="5303520"/>
            <a:ext cx="2651760" cy="384048"/>
          </a:xfrm>
          <a:prstGeom prst="roundRect">
            <a:avLst>
              <a:gd name="adj" fmla="val 50000"/>
            </a:avLst>
          </a:prstGeom>
          <a:solidFill>
            <a:srgbClr val="121A2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59E0B"/>
                </a:solidFill>
                <a:latin typeface="Calibri"/>
              </a:rPr>
              <a:t>Crew Clearance   /crew</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